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</p:sldIdLst>
  <p:sldSz cx="11430000" cy="9442450"/>
  <p:notesSz cx="11430000" cy="9442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1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49" cy="6438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03603" y="2359025"/>
            <a:ext cx="251777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4" y="1935162"/>
            <a:ext cx="4820285" cy="334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63550"/>
            <a:ext cx="9965690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28" y="2049462"/>
            <a:ext cx="4617720" cy="1922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A3A3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50.png"/><Relationship Id="rId4" Type="http://schemas.openxmlformats.org/officeDocument/2006/relationships/image" Target="../media/image5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1692275"/>
            <a:ext cx="1019810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170" dirty="0"/>
              <a:t>Malicious</a:t>
            </a:r>
            <a:r>
              <a:rPr spc="30" dirty="0"/>
              <a:t> </a:t>
            </a:r>
            <a:r>
              <a:rPr spc="150" dirty="0"/>
              <a:t>Traffic</a:t>
            </a:r>
            <a:r>
              <a:rPr spc="30" dirty="0"/>
              <a:t> </a:t>
            </a:r>
            <a:r>
              <a:rPr spc="135" dirty="0"/>
              <a:t>Pattern</a:t>
            </a:r>
            <a:r>
              <a:rPr spc="35" dirty="0"/>
              <a:t> </a:t>
            </a:r>
            <a:r>
              <a:rPr spc="135" dirty="0"/>
              <a:t>Clustering</a:t>
            </a:r>
            <a:r>
              <a:rPr spc="30" dirty="0"/>
              <a:t> </a:t>
            </a:r>
            <a:r>
              <a:rPr spc="150" dirty="0"/>
              <a:t>Using</a:t>
            </a:r>
            <a:r>
              <a:rPr spc="30" dirty="0"/>
              <a:t> </a:t>
            </a:r>
            <a:r>
              <a:rPr dirty="0"/>
              <a:t>K-</a:t>
            </a:r>
            <a:r>
              <a:rPr spc="200" dirty="0"/>
              <a:t>Means </a:t>
            </a:r>
            <a:r>
              <a:rPr spc="235" dirty="0"/>
              <a:t>and</a:t>
            </a:r>
            <a:r>
              <a:rPr spc="25" dirty="0"/>
              <a:t> </a:t>
            </a:r>
            <a:r>
              <a:rPr spc="170" dirty="0"/>
              <a:t>Hierarchical</a:t>
            </a:r>
            <a:r>
              <a:rPr spc="30" dirty="0"/>
              <a:t> </a:t>
            </a:r>
            <a:r>
              <a:rPr spc="125" dirty="0"/>
              <a:t>Clustering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2974339"/>
            <a:ext cx="8594725" cy="174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5051425">
              <a:lnSpc>
                <a:spcPct val="134300"/>
              </a:lnSpc>
              <a:spcBef>
                <a:spcPts val="10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Pakkiru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Sai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Harshith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Reddy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2520030375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Kasula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Yashas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2520030401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Course: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Machine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Learning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Department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of Computer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Science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Engineering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Guide: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4B4B4B"/>
                </a:solidFill>
                <a:latin typeface="Cambria"/>
                <a:cs typeface="Cambria"/>
              </a:rPr>
              <a:t>Mr.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Shaik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Asif,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Assistant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4B4B4B"/>
                </a:solidFill>
                <a:latin typeface="Cambria"/>
                <a:cs typeface="Cambria"/>
              </a:rPr>
              <a:t>Professor,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Department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of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Computer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Science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Engineering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350">
              <a:latin typeface="Cambria"/>
              <a:cs typeface="Cambria"/>
            </a:endParaRPr>
          </a:p>
          <a:p>
            <a:pPr marL="48260">
              <a:lnSpc>
                <a:spcPct val="100000"/>
              </a:lnSpc>
            </a:pP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A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concise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study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applying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unsupervised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methods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CICIDS2017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network-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data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discover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suspicious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5" dirty="0">
                <a:solidFill>
                  <a:srgbClr val="4B4B4B"/>
                </a:solidFill>
                <a:latin typeface="Cambria"/>
                <a:cs typeface="Cambria"/>
              </a:rPr>
              <a:t>patterns.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077200"/>
          </a:xfrm>
          <a:custGeom>
            <a:avLst/>
            <a:gdLst/>
            <a:ahLst/>
            <a:cxnLst/>
            <a:rect l="l" t="t" r="r" b="b"/>
            <a:pathLst>
              <a:path w="11430000" h="8077200">
                <a:moveTo>
                  <a:pt x="11429999" y="8077199"/>
                </a:moveTo>
                <a:lnTo>
                  <a:pt x="0" y="80771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0771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63550"/>
            <a:ext cx="38804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5" dirty="0"/>
              <a:t>Research</a:t>
            </a:r>
            <a:r>
              <a:rPr dirty="0"/>
              <a:t> </a:t>
            </a:r>
            <a:r>
              <a:rPr spc="195" dirty="0"/>
              <a:t>Roadmap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352549"/>
            <a:ext cx="187960" cy="1045210"/>
            <a:chOff x="600074" y="1352549"/>
            <a:chExt cx="187960" cy="1045210"/>
          </a:xfrm>
        </p:grpSpPr>
        <p:sp>
          <p:nvSpPr>
            <p:cNvPr id="5" name="object 5"/>
            <p:cNvSpPr/>
            <p:nvPr/>
          </p:nvSpPr>
          <p:spPr>
            <a:xfrm>
              <a:off x="617206" y="1369681"/>
              <a:ext cx="170815" cy="1028065"/>
            </a:xfrm>
            <a:custGeom>
              <a:avLst/>
              <a:gdLst/>
              <a:ahLst/>
              <a:cxnLst/>
              <a:rect l="l" t="t" r="r" b="b"/>
              <a:pathLst>
                <a:path w="170815" h="1028064">
                  <a:moveTo>
                    <a:pt x="159563" y="1002043"/>
                  </a:moveTo>
                  <a:lnTo>
                    <a:pt x="101005" y="1002043"/>
                  </a:lnTo>
                  <a:lnTo>
                    <a:pt x="107445" y="1000762"/>
                  </a:lnTo>
                  <a:lnTo>
                    <a:pt x="119814" y="995638"/>
                  </a:lnTo>
                  <a:lnTo>
                    <a:pt x="143512" y="964695"/>
                  </a:lnTo>
                  <a:lnTo>
                    <a:pt x="144793" y="958255"/>
                  </a:lnTo>
                  <a:lnTo>
                    <a:pt x="144793" y="36181"/>
                  </a:lnTo>
                  <a:lnTo>
                    <a:pt x="125273" y="2445"/>
                  </a:lnTo>
                  <a:lnTo>
                    <a:pt x="121613" y="0"/>
                  </a:lnTo>
                  <a:lnTo>
                    <a:pt x="125955" y="863"/>
                  </a:lnTo>
                  <a:lnTo>
                    <a:pt x="158089" y="22335"/>
                  </a:lnTo>
                  <a:lnTo>
                    <a:pt x="170392" y="55009"/>
                  </a:lnTo>
                  <a:lnTo>
                    <a:pt x="170392" y="971574"/>
                  </a:lnTo>
                  <a:lnTo>
                    <a:pt x="162467" y="997696"/>
                  </a:lnTo>
                  <a:lnTo>
                    <a:pt x="159563" y="1002043"/>
                  </a:lnTo>
                  <a:close/>
                </a:path>
                <a:path w="170815" h="1028064">
                  <a:moveTo>
                    <a:pt x="114324" y="1027641"/>
                  </a:moveTo>
                  <a:lnTo>
                    <a:pt x="55009" y="1027641"/>
                  </a:lnTo>
                  <a:lnTo>
                    <a:pt x="51107" y="1027257"/>
                  </a:lnTo>
                  <a:lnTo>
                    <a:pt x="13731" y="1007279"/>
                  </a:lnTo>
                  <a:lnTo>
                    <a:pt x="0" y="978863"/>
                  </a:lnTo>
                  <a:lnTo>
                    <a:pt x="2445" y="982523"/>
                  </a:lnTo>
                  <a:lnTo>
                    <a:pt x="11913" y="991991"/>
                  </a:lnTo>
                  <a:lnTo>
                    <a:pt x="17372" y="995638"/>
                  </a:lnTo>
                  <a:lnTo>
                    <a:pt x="29742" y="1000762"/>
                  </a:lnTo>
                  <a:lnTo>
                    <a:pt x="36181" y="1002043"/>
                  </a:lnTo>
                  <a:lnTo>
                    <a:pt x="159563" y="1002043"/>
                  </a:lnTo>
                  <a:lnTo>
                    <a:pt x="158089" y="1004248"/>
                  </a:lnTo>
                  <a:lnTo>
                    <a:pt x="125955" y="1025719"/>
                  </a:lnTo>
                  <a:lnTo>
                    <a:pt x="118226" y="1027257"/>
                  </a:lnTo>
                  <a:lnTo>
                    <a:pt x="114324" y="1027641"/>
                  </a:lnTo>
                  <a:close/>
                </a:path>
              </a:pathLst>
            </a:custGeom>
            <a:solidFill>
              <a:srgbClr val="CC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1362075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105232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5232" y="0"/>
                  </a:lnTo>
                  <a:lnTo>
                    <a:pt x="139957" y="17129"/>
                  </a:lnTo>
                  <a:lnTo>
                    <a:pt x="152399" y="47167"/>
                  </a:lnTo>
                  <a:lnTo>
                    <a:pt x="152399" y="962481"/>
                  </a:lnTo>
                  <a:lnTo>
                    <a:pt x="135270" y="997207"/>
                  </a:lnTo>
                  <a:lnTo>
                    <a:pt x="108515" y="1009326"/>
                  </a:lnTo>
                  <a:lnTo>
                    <a:pt x="105232" y="10096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136207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917" y="0"/>
                  </a:lnTo>
                  <a:lnTo>
                    <a:pt x="105232" y="0"/>
                  </a:lnTo>
                  <a:lnTo>
                    <a:pt x="108515" y="323"/>
                  </a:lnTo>
                  <a:lnTo>
                    <a:pt x="111766" y="969"/>
                  </a:lnTo>
                  <a:lnTo>
                    <a:pt x="115017" y="1616"/>
                  </a:lnTo>
                  <a:lnTo>
                    <a:pt x="143892" y="22435"/>
                  </a:lnTo>
                  <a:lnTo>
                    <a:pt x="145733" y="25191"/>
                  </a:lnTo>
                  <a:lnTo>
                    <a:pt x="147288" y="28101"/>
                  </a:lnTo>
                  <a:lnTo>
                    <a:pt x="148557" y="31163"/>
                  </a:lnTo>
                  <a:lnTo>
                    <a:pt x="149825" y="34225"/>
                  </a:lnTo>
                  <a:lnTo>
                    <a:pt x="152400" y="50482"/>
                  </a:lnTo>
                  <a:lnTo>
                    <a:pt x="152400" y="959167"/>
                  </a:lnTo>
                  <a:lnTo>
                    <a:pt x="148557" y="978485"/>
                  </a:lnTo>
                  <a:lnTo>
                    <a:pt x="147288" y="981548"/>
                  </a:lnTo>
                  <a:lnTo>
                    <a:pt x="145733" y="984457"/>
                  </a:lnTo>
                  <a:lnTo>
                    <a:pt x="143892" y="987213"/>
                  </a:lnTo>
                  <a:lnTo>
                    <a:pt x="142050" y="989969"/>
                  </a:lnTo>
                  <a:lnTo>
                    <a:pt x="121236" y="1005806"/>
                  </a:lnTo>
                  <a:lnTo>
                    <a:pt x="118173" y="1007075"/>
                  </a:lnTo>
                  <a:lnTo>
                    <a:pt x="101917" y="1009649"/>
                  </a:lnTo>
                  <a:lnTo>
                    <a:pt x="50482" y="1009649"/>
                  </a:lnTo>
                  <a:lnTo>
                    <a:pt x="31163" y="1005806"/>
                  </a:lnTo>
                  <a:lnTo>
                    <a:pt x="28101" y="1004538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CC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0275" y="1506537"/>
            <a:ext cx="628142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4B4B4B"/>
                </a:solidFill>
                <a:latin typeface="Cambria"/>
                <a:cs typeface="Cambria"/>
              </a:rPr>
              <a:t>1.</a:t>
            </a:r>
            <a:r>
              <a:rPr sz="1650" spc="3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4B4B4B"/>
                </a:solidFill>
                <a:latin typeface="Cambria"/>
                <a:cs typeface="Cambria"/>
              </a:rPr>
              <a:t>Literature</a:t>
            </a:r>
            <a:r>
              <a:rPr sz="1650" spc="4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135" dirty="0">
                <a:solidFill>
                  <a:srgbClr val="4B4B4B"/>
                </a:solidFill>
                <a:latin typeface="Cambria"/>
                <a:cs typeface="Cambria"/>
              </a:rPr>
              <a:t>&amp;</a:t>
            </a:r>
            <a:r>
              <a:rPr sz="1650" spc="3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90" dirty="0">
                <a:solidFill>
                  <a:srgbClr val="4B4B4B"/>
                </a:solidFill>
                <a:latin typeface="Cambria"/>
                <a:cs typeface="Cambria"/>
              </a:rPr>
              <a:t>Problem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Establish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context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in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140" dirty="0">
                <a:solidFill>
                  <a:srgbClr val="4B4B4B"/>
                </a:solidFill>
                <a:latin typeface="Cambria"/>
                <a:cs typeface="Cambria"/>
              </a:rPr>
              <a:t>ML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cybersecurity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define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detection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challenge.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7249" y="2552699"/>
            <a:ext cx="187960" cy="1045210"/>
            <a:chOff x="857249" y="2552699"/>
            <a:chExt cx="187960" cy="1045210"/>
          </a:xfrm>
        </p:grpSpPr>
        <p:sp>
          <p:nvSpPr>
            <p:cNvPr id="10" name="object 10"/>
            <p:cNvSpPr/>
            <p:nvPr/>
          </p:nvSpPr>
          <p:spPr>
            <a:xfrm>
              <a:off x="874381" y="2569830"/>
              <a:ext cx="170815" cy="1028065"/>
            </a:xfrm>
            <a:custGeom>
              <a:avLst/>
              <a:gdLst/>
              <a:ahLst/>
              <a:cxnLst/>
              <a:rect l="l" t="t" r="r" b="b"/>
              <a:pathLst>
                <a:path w="170815" h="1028064">
                  <a:moveTo>
                    <a:pt x="159563" y="1002043"/>
                  </a:moveTo>
                  <a:lnTo>
                    <a:pt x="101005" y="1002043"/>
                  </a:lnTo>
                  <a:lnTo>
                    <a:pt x="107445" y="1000762"/>
                  </a:lnTo>
                  <a:lnTo>
                    <a:pt x="119814" y="995638"/>
                  </a:lnTo>
                  <a:lnTo>
                    <a:pt x="143512" y="964695"/>
                  </a:lnTo>
                  <a:lnTo>
                    <a:pt x="144793" y="958255"/>
                  </a:lnTo>
                  <a:lnTo>
                    <a:pt x="144793" y="36182"/>
                  </a:lnTo>
                  <a:lnTo>
                    <a:pt x="125274" y="2446"/>
                  </a:lnTo>
                  <a:lnTo>
                    <a:pt x="121612" y="0"/>
                  </a:lnTo>
                  <a:lnTo>
                    <a:pt x="125955" y="864"/>
                  </a:lnTo>
                  <a:lnTo>
                    <a:pt x="158089" y="22335"/>
                  </a:lnTo>
                  <a:lnTo>
                    <a:pt x="170391" y="55009"/>
                  </a:lnTo>
                  <a:lnTo>
                    <a:pt x="170391" y="971575"/>
                  </a:lnTo>
                  <a:lnTo>
                    <a:pt x="162467" y="997696"/>
                  </a:lnTo>
                  <a:lnTo>
                    <a:pt x="159563" y="1002043"/>
                  </a:lnTo>
                  <a:close/>
                </a:path>
                <a:path w="170815" h="1028064">
                  <a:moveTo>
                    <a:pt x="114324" y="1027641"/>
                  </a:moveTo>
                  <a:lnTo>
                    <a:pt x="55009" y="1027641"/>
                  </a:lnTo>
                  <a:lnTo>
                    <a:pt x="51107" y="1027257"/>
                  </a:lnTo>
                  <a:lnTo>
                    <a:pt x="13731" y="1007280"/>
                  </a:lnTo>
                  <a:lnTo>
                    <a:pt x="0" y="978863"/>
                  </a:lnTo>
                  <a:lnTo>
                    <a:pt x="2445" y="982524"/>
                  </a:lnTo>
                  <a:lnTo>
                    <a:pt x="11913" y="991991"/>
                  </a:lnTo>
                  <a:lnTo>
                    <a:pt x="17372" y="995638"/>
                  </a:lnTo>
                  <a:lnTo>
                    <a:pt x="29742" y="1000762"/>
                  </a:lnTo>
                  <a:lnTo>
                    <a:pt x="36181" y="1002043"/>
                  </a:lnTo>
                  <a:lnTo>
                    <a:pt x="159563" y="1002043"/>
                  </a:lnTo>
                  <a:lnTo>
                    <a:pt x="158089" y="1004248"/>
                  </a:lnTo>
                  <a:lnTo>
                    <a:pt x="125955" y="1025720"/>
                  </a:lnTo>
                  <a:lnTo>
                    <a:pt x="118226" y="1027257"/>
                  </a:lnTo>
                  <a:lnTo>
                    <a:pt x="114324" y="1027641"/>
                  </a:lnTo>
                  <a:close/>
                </a:path>
              </a:pathLst>
            </a:custGeom>
            <a:solidFill>
              <a:srgbClr val="CC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6774" y="256222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105232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2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5232" y="0"/>
                  </a:lnTo>
                  <a:lnTo>
                    <a:pt x="139957" y="17129"/>
                  </a:lnTo>
                  <a:lnTo>
                    <a:pt x="152399" y="47167"/>
                  </a:lnTo>
                  <a:lnTo>
                    <a:pt x="152399" y="962482"/>
                  </a:lnTo>
                  <a:lnTo>
                    <a:pt x="135270" y="997207"/>
                  </a:lnTo>
                  <a:lnTo>
                    <a:pt x="108515" y="1009326"/>
                  </a:lnTo>
                  <a:lnTo>
                    <a:pt x="105232" y="10096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6774" y="256222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14786" y="14785"/>
                  </a:lnTo>
                  <a:lnTo>
                    <a:pt x="17129" y="12441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917" y="0"/>
                  </a:lnTo>
                  <a:lnTo>
                    <a:pt x="105232" y="0"/>
                  </a:lnTo>
                  <a:lnTo>
                    <a:pt x="108515" y="323"/>
                  </a:lnTo>
                  <a:lnTo>
                    <a:pt x="111766" y="970"/>
                  </a:lnTo>
                  <a:lnTo>
                    <a:pt x="115017" y="1616"/>
                  </a:lnTo>
                  <a:lnTo>
                    <a:pt x="118173" y="2574"/>
                  </a:lnTo>
                  <a:lnTo>
                    <a:pt x="121236" y="3842"/>
                  </a:lnTo>
                  <a:lnTo>
                    <a:pt x="124298" y="5111"/>
                  </a:lnTo>
                  <a:lnTo>
                    <a:pt x="127207" y="6666"/>
                  </a:lnTo>
                  <a:lnTo>
                    <a:pt x="129964" y="8507"/>
                  </a:lnTo>
                  <a:lnTo>
                    <a:pt x="132720" y="10349"/>
                  </a:lnTo>
                  <a:lnTo>
                    <a:pt x="135270" y="12441"/>
                  </a:lnTo>
                  <a:lnTo>
                    <a:pt x="137613" y="14785"/>
                  </a:lnTo>
                  <a:lnTo>
                    <a:pt x="139957" y="17129"/>
                  </a:lnTo>
                  <a:lnTo>
                    <a:pt x="142050" y="19679"/>
                  </a:lnTo>
                  <a:lnTo>
                    <a:pt x="143892" y="22435"/>
                  </a:lnTo>
                  <a:lnTo>
                    <a:pt x="145733" y="25191"/>
                  </a:lnTo>
                  <a:lnTo>
                    <a:pt x="147288" y="28100"/>
                  </a:lnTo>
                  <a:lnTo>
                    <a:pt x="148557" y="31163"/>
                  </a:lnTo>
                  <a:lnTo>
                    <a:pt x="149825" y="34225"/>
                  </a:lnTo>
                  <a:lnTo>
                    <a:pt x="152400" y="50482"/>
                  </a:lnTo>
                  <a:lnTo>
                    <a:pt x="152400" y="959167"/>
                  </a:lnTo>
                  <a:lnTo>
                    <a:pt x="152399" y="962482"/>
                  </a:lnTo>
                  <a:lnTo>
                    <a:pt x="152076" y="965765"/>
                  </a:lnTo>
                  <a:lnTo>
                    <a:pt x="151429" y="969015"/>
                  </a:lnTo>
                  <a:lnTo>
                    <a:pt x="150783" y="972267"/>
                  </a:lnTo>
                  <a:lnTo>
                    <a:pt x="149825" y="975423"/>
                  </a:lnTo>
                  <a:lnTo>
                    <a:pt x="148557" y="978486"/>
                  </a:lnTo>
                  <a:lnTo>
                    <a:pt x="147288" y="981548"/>
                  </a:lnTo>
                  <a:lnTo>
                    <a:pt x="145733" y="984457"/>
                  </a:lnTo>
                  <a:lnTo>
                    <a:pt x="143892" y="987213"/>
                  </a:lnTo>
                  <a:lnTo>
                    <a:pt x="142050" y="989969"/>
                  </a:lnTo>
                  <a:lnTo>
                    <a:pt x="121236" y="1005806"/>
                  </a:lnTo>
                  <a:lnTo>
                    <a:pt x="118173" y="1007075"/>
                  </a:lnTo>
                  <a:lnTo>
                    <a:pt x="101917" y="1009649"/>
                  </a:lnTo>
                  <a:lnTo>
                    <a:pt x="50482" y="1009649"/>
                  </a:lnTo>
                  <a:lnTo>
                    <a:pt x="31163" y="1005806"/>
                  </a:lnTo>
                  <a:lnTo>
                    <a:pt x="28101" y="1004538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CC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87449" y="2706687"/>
            <a:ext cx="541718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4B4B4B"/>
                </a:solidFill>
                <a:latin typeface="Cambria"/>
                <a:cs typeface="Cambria"/>
              </a:rPr>
              <a:t>2.</a:t>
            </a:r>
            <a:r>
              <a:rPr sz="16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105" dirty="0">
                <a:solidFill>
                  <a:srgbClr val="4B4B4B"/>
                </a:solidFill>
                <a:latin typeface="Cambria"/>
                <a:cs typeface="Cambria"/>
              </a:rPr>
              <a:t>Data</a:t>
            </a:r>
            <a:r>
              <a:rPr sz="16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4B4B4B"/>
                </a:solidFill>
                <a:latin typeface="Cambria"/>
                <a:cs typeface="Cambria"/>
              </a:rPr>
              <a:t>Analysis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Explore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4B4B4B"/>
                </a:solidFill>
                <a:latin typeface="Cambria"/>
                <a:cs typeface="Cambria"/>
              </a:rPr>
              <a:t>CICIDS2017: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formats,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classes,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representative</a:t>
            </a:r>
            <a:r>
              <a:rPr sz="1350" spc="1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features.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4424" y="3752849"/>
            <a:ext cx="187960" cy="1045210"/>
            <a:chOff x="1114424" y="3752849"/>
            <a:chExt cx="187960" cy="1045210"/>
          </a:xfrm>
        </p:grpSpPr>
        <p:sp>
          <p:nvSpPr>
            <p:cNvPr id="15" name="object 15"/>
            <p:cNvSpPr/>
            <p:nvPr/>
          </p:nvSpPr>
          <p:spPr>
            <a:xfrm>
              <a:off x="1131556" y="3769981"/>
              <a:ext cx="170815" cy="1028065"/>
            </a:xfrm>
            <a:custGeom>
              <a:avLst/>
              <a:gdLst/>
              <a:ahLst/>
              <a:cxnLst/>
              <a:rect l="l" t="t" r="r" b="b"/>
              <a:pathLst>
                <a:path w="170815" h="1028064">
                  <a:moveTo>
                    <a:pt x="159563" y="1002043"/>
                  </a:moveTo>
                  <a:lnTo>
                    <a:pt x="101005" y="1002043"/>
                  </a:lnTo>
                  <a:lnTo>
                    <a:pt x="107445" y="1000761"/>
                  </a:lnTo>
                  <a:lnTo>
                    <a:pt x="119814" y="995638"/>
                  </a:lnTo>
                  <a:lnTo>
                    <a:pt x="143512" y="964694"/>
                  </a:lnTo>
                  <a:lnTo>
                    <a:pt x="144793" y="958255"/>
                  </a:lnTo>
                  <a:lnTo>
                    <a:pt x="144793" y="36181"/>
                  </a:lnTo>
                  <a:lnTo>
                    <a:pt x="125274" y="2445"/>
                  </a:lnTo>
                  <a:lnTo>
                    <a:pt x="121614" y="0"/>
                  </a:lnTo>
                  <a:lnTo>
                    <a:pt x="125955" y="863"/>
                  </a:lnTo>
                  <a:lnTo>
                    <a:pt x="158089" y="22334"/>
                  </a:lnTo>
                  <a:lnTo>
                    <a:pt x="170392" y="55008"/>
                  </a:lnTo>
                  <a:lnTo>
                    <a:pt x="170392" y="971574"/>
                  </a:lnTo>
                  <a:lnTo>
                    <a:pt x="162467" y="997695"/>
                  </a:lnTo>
                  <a:lnTo>
                    <a:pt x="159563" y="1002043"/>
                  </a:lnTo>
                  <a:close/>
                </a:path>
                <a:path w="170815" h="1028064">
                  <a:moveTo>
                    <a:pt x="114324" y="1027641"/>
                  </a:moveTo>
                  <a:lnTo>
                    <a:pt x="55009" y="1027641"/>
                  </a:lnTo>
                  <a:lnTo>
                    <a:pt x="51107" y="1027256"/>
                  </a:lnTo>
                  <a:lnTo>
                    <a:pt x="13731" y="1007279"/>
                  </a:lnTo>
                  <a:lnTo>
                    <a:pt x="95" y="979340"/>
                  </a:lnTo>
                  <a:lnTo>
                    <a:pt x="0" y="978862"/>
                  </a:lnTo>
                  <a:lnTo>
                    <a:pt x="36181" y="1002043"/>
                  </a:lnTo>
                  <a:lnTo>
                    <a:pt x="159563" y="1002043"/>
                  </a:lnTo>
                  <a:lnTo>
                    <a:pt x="158089" y="1004248"/>
                  </a:lnTo>
                  <a:lnTo>
                    <a:pt x="125956" y="1025719"/>
                  </a:lnTo>
                  <a:lnTo>
                    <a:pt x="118227" y="1027256"/>
                  </a:lnTo>
                  <a:lnTo>
                    <a:pt x="114324" y="1027641"/>
                  </a:lnTo>
                  <a:close/>
                </a:path>
              </a:pathLst>
            </a:custGeom>
            <a:solidFill>
              <a:srgbClr val="CC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949" y="376237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105232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5232" y="0"/>
                  </a:lnTo>
                  <a:lnTo>
                    <a:pt x="139957" y="17129"/>
                  </a:lnTo>
                  <a:lnTo>
                    <a:pt x="152399" y="47167"/>
                  </a:lnTo>
                  <a:lnTo>
                    <a:pt x="152399" y="962481"/>
                  </a:lnTo>
                  <a:lnTo>
                    <a:pt x="135269" y="997207"/>
                  </a:lnTo>
                  <a:lnTo>
                    <a:pt x="108515" y="1009326"/>
                  </a:lnTo>
                  <a:lnTo>
                    <a:pt x="105232" y="10096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949" y="376237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917" y="0"/>
                  </a:lnTo>
                  <a:lnTo>
                    <a:pt x="105232" y="0"/>
                  </a:lnTo>
                  <a:lnTo>
                    <a:pt x="108515" y="323"/>
                  </a:lnTo>
                  <a:lnTo>
                    <a:pt x="111766" y="969"/>
                  </a:lnTo>
                  <a:lnTo>
                    <a:pt x="115017" y="1616"/>
                  </a:lnTo>
                  <a:lnTo>
                    <a:pt x="118173" y="2573"/>
                  </a:lnTo>
                  <a:lnTo>
                    <a:pt x="121236" y="3842"/>
                  </a:lnTo>
                  <a:lnTo>
                    <a:pt x="124298" y="5110"/>
                  </a:lnTo>
                  <a:lnTo>
                    <a:pt x="137613" y="14785"/>
                  </a:lnTo>
                  <a:lnTo>
                    <a:pt x="139957" y="17129"/>
                  </a:lnTo>
                  <a:lnTo>
                    <a:pt x="142050" y="19679"/>
                  </a:lnTo>
                  <a:lnTo>
                    <a:pt x="143892" y="22435"/>
                  </a:lnTo>
                  <a:lnTo>
                    <a:pt x="145733" y="25191"/>
                  </a:lnTo>
                  <a:lnTo>
                    <a:pt x="147288" y="28100"/>
                  </a:lnTo>
                  <a:lnTo>
                    <a:pt x="148557" y="31163"/>
                  </a:lnTo>
                  <a:lnTo>
                    <a:pt x="149825" y="34225"/>
                  </a:lnTo>
                  <a:lnTo>
                    <a:pt x="150783" y="37382"/>
                  </a:lnTo>
                  <a:lnTo>
                    <a:pt x="151429" y="40633"/>
                  </a:lnTo>
                  <a:lnTo>
                    <a:pt x="152076" y="43884"/>
                  </a:lnTo>
                  <a:lnTo>
                    <a:pt x="152399" y="47167"/>
                  </a:lnTo>
                  <a:lnTo>
                    <a:pt x="152399" y="50482"/>
                  </a:lnTo>
                  <a:lnTo>
                    <a:pt x="152399" y="959167"/>
                  </a:lnTo>
                  <a:lnTo>
                    <a:pt x="152399" y="962481"/>
                  </a:lnTo>
                  <a:lnTo>
                    <a:pt x="152076" y="965764"/>
                  </a:lnTo>
                  <a:lnTo>
                    <a:pt x="151429" y="969015"/>
                  </a:lnTo>
                  <a:lnTo>
                    <a:pt x="150783" y="972266"/>
                  </a:lnTo>
                  <a:lnTo>
                    <a:pt x="149825" y="975423"/>
                  </a:lnTo>
                  <a:lnTo>
                    <a:pt x="148557" y="978485"/>
                  </a:lnTo>
                  <a:lnTo>
                    <a:pt x="147288" y="981548"/>
                  </a:lnTo>
                  <a:lnTo>
                    <a:pt x="145733" y="984457"/>
                  </a:lnTo>
                  <a:lnTo>
                    <a:pt x="143891" y="987213"/>
                  </a:lnTo>
                  <a:lnTo>
                    <a:pt x="142050" y="989969"/>
                  </a:lnTo>
                  <a:lnTo>
                    <a:pt x="139957" y="992519"/>
                  </a:lnTo>
                  <a:lnTo>
                    <a:pt x="137613" y="994863"/>
                  </a:lnTo>
                  <a:lnTo>
                    <a:pt x="135269" y="997207"/>
                  </a:lnTo>
                  <a:lnTo>
                    <a:pt x="132719" y="999299"/>
                  </a:lnTo>
                  <a:lnTo>
                    <a:pt x="129963" y="1001141"/>
                  </a:lnTo>
                  <a:lnTo>
                    <a:pt x="127207" y="1002982"/>
                  </a:lnTo>
                  <a:lnTo>
                    <a:pt x="124298" y="1004538"/>
                  </a:lnTo>
                  <a:lnTo>
                    <a:pt x="121236" y="1005806"/>
                  </a:lnTo>
                  <a:lnTo>
                    <a:pt x="118173" y="1007075"/>
                  </a:lnTo>
                  <a:lnTo>
                    <a:pt x="101917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34225" y="1007075"/>
                  </a:lnTo>
                  <a:lnTo>
                    <a:pt x="31163" y="1005806"/>
                  </a:lnTo>
                  <a:lnTo>
                    <a:pt x="28101" y="1004538"/>
                  </a:lnTo>
                  <a:lnTo>
                    <a:pt x="25191" y="1002982"/>
                  </a:lnTo>
                  <a:lnTo>
                    <a:pt x="22435" y="1001141"/>
                  </a:lnTo>
                  <a:lnTo>
                    <a:pt x="19679" y="999299"/>
                  </a:lnTo>
                  <a:lnTo>
                    <a:pt x="17129" y="997207"/>
                  </a:lnTo>
                  <a:lnTo>
                    <a:pt x="14785" y="994863"/>
                  </a:lnTo>
                  <a:lnTo>
                    <a:pt x="12441" y="992519"/>
                  </a:lnTo>
                  <a:lnTo>
                    <a:pt x="10349" y="989969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5111" y="981547"/>
                  </a:lnTo>
                  <a:lnTo>
                    <a:pt x="3842" y="978485"/>
                  </a:lnTo>
                  <a:lnTo>
                    <a:pt x="2574" y="975423"/>
                  </a:lnTo>
                  <a:lnTo>
                    <a:pt x="1616" y="972266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CC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44624" y="3906837"/>
            <a:ext cx="474408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4B4B4B"/>
                </a:solidFill>
                <a:latin typeface="Cambria"/>
                <a:cs typeface="Cambria"/>
              </a:rPr>
              <a:t>3.</a:t>
            </a:r>
            <a:r>
              <a:rPr sz="16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4B4B4B"/>
                </a:solidFill>
                <a:latin typeface="Cambria"/>
                <a:cs typeface="Cambria"/>
              </a:rPr>
              <a:t>Methodology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Preprocessing,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feature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selection,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two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35" dirty="0">
                <a:solidFill>
                  <a:srgbClr val="4B4B4B"/>
                </a:solidFill>
                <a:latin typeface="Cambria"/>
                <a:cs typeface="Cambria"/>
              </a:rPr>
              <a:t>strategies.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71599" y="4952999"/>
            <a:ext cx="187960" cy="1045210"/>
            <a:chOff x="1371599" y="4952999"/>
            <a:chExt cx="187960" cy="1045210"/>
          </a:xfrm>
        </p:grpSpPr>
        <p:sp>
          <p:nvSpPr>
            <p:cNvPr id="20" name="object 20"/>
            <p:cNvSpPr/>
            <p:nvPr/>
          </p:nvSpPr>
          <p:spPr>
            <a:xfrm>
              <a:off x="1388731" y="4970130"/>
              <a:ext cx="170815" cy="1028065"/>
            </a:xfrm>
            <a:custGeom>
              <a:avLst/>
              <a:gdLst/>
              <a:ahLst/>
              <a:cxnLst/>
              <a:rect l="l" t="t" r="r" b="b"/>
              <a:pathLst>
                <a:path w="170815" h="1028064">
                  <a:moveTo>
                    <a:pt x="159563" y="1002043"/>
                  </a:moveTo>
                  <a:lnTo>
                    <a:pt x="101005" y="1002043"/>
                  </a:lnTo>
                  <a:lnTo>
                    <a:pt x="107445" y="1000762"/>
                  </a:lnTo>
                  <a:lnTo>
                    <a:pt x="119814" y="995639"/>
                  </a:lnTo>
                  <a:lnTo>
                    <a:pt x="143512" y="964694"/>
                  </a:lnTo>
                  <a:lnTo>
                    <a:pt x="144793" y="958255"/>
                  </a:lnTo>
                  <a:lnTo>
                    <a:pt x="144793" y="36181"/>
                  </a:lnTo>
                  <a:lnTo>
                    <a:pt x="125273" y="2445"/>
                  </a:lnTo>
                  <a:lnTo>
                    <a:pt x="121613" y="0"/>
                  </a:lnTo>
                  <a:lnTo>
                    <a:pt x="125956" y="863"/>
                  </a:lnTo>
                  <a:lnTo>
                    <a:pt x="158090" y="22334"/>
                  </a:lnTo>
                  <a:lnTo>
                    <a:pt x="170392" y="55008"/>
                  </a:lnTo>
                  <a:lnTo>
                    <a:pt x="170392" y="971574"/>
                  </a:lnTo>
                  <a:lnTo>
                    <a:pt x="162468" y="997695"/>
                  </a:lnTo>
                  <a:lnTo>
                    <a:pt x="159563" y="1002043"/>
                  </a:lnTo>
                  <a:close/>
                </a:path>
                <a:path w="170815" h="1028064">
                  <a:moveTo>
                    <a:pt x="114324" y="1027641"/>
                  </a:moveTo>
                  <a:lnTo>
                    <a:pt x="55009" y="1027641"/>
                  </a:lnTo>
                  <a:lnTo>
                    <a:pt x="51107" y="1027257"/>
                  </a:lnTo>
                  <a:lnTo>
                    <a:pt x="13731" y="1007279"/>
                  </a:lnTo>
                  <a:lnTo>
                    <a:pt x="95" y="979341"/>
                  </a:lnTo>
                  <a:lnTo>
                    <a:pt x="0" y="978863"/>
                  </a:lnTo>
                  <a:lnTo>
                    <a:pt x="36181" y="1002043"/>
                  </a:lnTo>
                  <a:lnTo>
                    <a:pt x="159563" y="1002043"/>
                  </a:lnTo>
                  <a:lnTo>
                    <a:pt x="158090" y="1004248"/>
                  </a:lnTo>
                  <a:lnTo>
                    <a:pt x="125956" y="1025719"/>
                  </a:lnTo>
                  <a:lnTo>
                    <a:pt x="118227" y="1027257"/>
                  </a:lnTo>
                  <a:lnTo>
                    <a:pt x="114324" y="1027641"/>
                  </a:lnTo>
                  <a:close/>
                </a:path>
              </a:pathLst>
            </a:custGeom>
            <a:solidFill>
              <a:srgbClr val="CC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1124" y="496252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105232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5232" y="0"/>
                  </a:lnTo>
                  <a:lnTo>
                    <a:pt x="139957" y="17129"/>
                  </a:lnTo>
                  <a:lnTo>
                    <a:pt x="152399" y="47167"/>
                  </a:lnTo>
                  <a:lnTo>
                    <a:pt x="152399" y="962481"/>
                  </a:lnTo>
                  <a:lnTo>
                    <a:pt x="135269" y="997207"/>
                  </a:lnTo>
                  <a:lnTo>
                    <a:pt x="108515" y="1009326"/>
                  </a:lnTo>
                  <a:lnTo>
                    <a:pt x="105232" y="10096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81124" y="496252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917" y="0"/>
                  </a:lnTo>
                  <a:lnTo>
                    <a:pt x="105232" y="0"/>
                  </a:lnTo>
                  <a:lnTo>
                    <a:pt x="108515" y="323"/>
                  </a:lnTo>
                  <a:lnTo>
                    <a:pt x="137613" y="14785"/>
                  </a:lnTo>
                  <a:lnTo>
                    <a:pt x="139957" y="17129"/>
                  </a:lnTo>
                  <a:lnTo>
                    <a:pt x="142050" y="19679"/>
                  </a:lnTo>
                  <a:lnTo>
                    <a:pt x="143891" y="22435"/>
                  </a:lnTo>
                  <a:lnTo>
                    <a:pt x="145733" y="25191"/>
                  </a:lnTo>
                  <a:lnTo>
                    <a:pt x="147288" y="28100"/>
                  </a:lnTo>
                  <a:lnTo>
                    <a:pt x="148557" y="31163"/>
                  </a:lnTo>
                  <a:lnTo>
                    <a:pt x="149825" y="34225"/>
                  </a:lnTo>
                  <a:lnTo>
                    <a:pt x="150783" y="37382"/>
                  </a:lnTo>
                  <a:lnTo>
                    <a:pt x="151429" y="40632"/>
                  </a:lnTo>
                  <a:lnTo>
                    <a:pt x="152076" y="43884"/>
                  </a:lnTo>
                  <a:lnTo>
                    <a:pt x="152399" y="47167"/>
                  </a:lnTo>
                  <a:lnTo>
                    <a:pt x="152399" y="50482"/>
                  </a:lnTo>
                  <a:lnTo>
                    <a:pt x="152399" y="959167"/>
                  </a:lnTo>
                  <a:lnTo>
                    <a:pt x="152399" y="962481"/>
                  </a:lnTo>
                  <a:lnTo>
                    <a:pt x="152076" y="965764"/>
                  </a:lnTo>
                  <a:lnTo>
                    <a:pt x="151429" y="969015"/>
                  </a:lnTo>
                  <a:lnTo>
                    <a:pt x="150783" y="972266"/>
                  </a:lnTo>
                  <a:lnTo>
                    <a:pt x="143891" y="987213"/>
                  </a:lnTo>
                  <a:lnTo>
                    <a:pt x="142050" y="989969"/>
                  </a:lnTo>
                  <a:lnTo>
                    <a:pt x="129963" y="1001140"/>
                  </a:lnTo>
                  <a:lnTo>
                    <a:pt x="127207" y="1002982"/>
                  </a:lnTo>
                  <a:lnTo>
                    <a:pt x="124298" y="1004537"/>
                  </a:lnTo>
                  <a:lnTo>
                    <a:pt x="121236" y="1005806"/>
                  </a:lnTo>
                  <a:lnTo>
                    <a:pt x="118173" y="1007075"/>
                  </a:lnTo>
                  <a:lnTo>
                    <a:pt x="115017" y="1008032"/>
                  </a:lnTo>
                  <a:lnTo>
                    <a:pt x="111766" y="1008679"/>
                  </a:lnTo>
                  <a:lnTo>
                    <a:pt x="108515" y="1009326"/>
                  </a:lnTo>
                  <a:lnTo>
                    <a:pt x="105232" y="1009649"/>
                  </a:lnTo>
                  <a:lnTo>
                    <a:pt x="101917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34225" y="1007075"/>
                  </a:lnTo>
                  <a:lnTo>
                    <a:pt x="31163" y="1005806"/>
                  </a:lnTo>
                  <a:lnTo>
                    <a:pt x="28101" y="1004537"/>
                  </a:lnTo>
                  <a:lnTo>
                    <a:pt x="25191" y="1002982"/>
                  </a:lnTo>
                  <a:lnTo>
                    <a:pt x="22435" y="1001140"/>
                  </a:lnTo>
                  <a:lnTo>
                    <a:pt x="19679" y="999299"/>
                  </a:lnTo>
                  <a:lnTo>
                    <a:pt x="8507" y="987213"/>
                  </a:lnTo>
                  <a:lnTo>
                    <a:pt x="6666" y="984457"/>
                  </a:lnTo>
                  <a:lnTo>
                    <a:pt x="969" y="969015"/>
                  </a:lnTo>
                  <a:lnTo>
                    <a:pt x="323" y="965764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CC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01800" y="5106987"/>
            <a:ext cx="487553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4B4B4B"/>
                </a:solidFill>
                <a:latin typeface="Cambria"/>
                <a:cs typeface="Cambria"/>
              </a:rPr>
              <a:t>4.</a:t>
            </a:r>
            <a:r>
              <a:rPr sz="16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4B4B4B"/>
                </a:solidFill>
                <a:latin typeface="Cambria"/>
                <a:cs typeface="Cambria"/>
              </a:rPr>
              <a:t>Implementation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Python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pipeline,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experiments,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visualisation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evaluation.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14424" y="6153149"/>
            <a:ext cx="187960" cy="1045210"/>
            <a:chOff x="1114424" y="6153149"/>
            <a:chExt cx="187960" cy="1045210"/>
          </a:xfrm>
        </p:grpSpPr>
        <p:sp>
          <p:nvSpPr>
            <p:cNvPr id="25" name="object 25"/>
            <p:cNvSpPr/>
            <p:nvPr/>
          </p:nvSpPr>
          <p:spPr>
            <a:xfrm>
              <a:off x="1131556" y="6170280"/>
              <a:ext cx="170815" cy="1028065"/>
            </a:xfrm>
            <a:custGeom>
              <a:avLst/>
              <a:gdLst/>
              <a:ahLst/>
              <a:cxnLst/>
              <a:rect l="l" t="t" r="r" b="b"/>
              <a:pathLst>
                <a:path w="170815" h="1028065">
                  <a:moveTo>
                    <a:pt x="159563" y="1002043"/>
                  </a:moveTo>
                  <a:lnTo>
                    <a:pt x="101005" y="1002043"/>
                  </a:lnTo>
                  <a:lnTo>
                    <a:pt x="107444" y="1000761"/>
                  </a:lnTo>
                  <a:lnTo>
                    <a:pt x="119814" y="995638"/>
                  </a:lnTo>
                  <a:lnTo>
                    <a:pt x="143512" y="964695"/>
                  </a:lnTo>
                  <a:lnTo>
                    <a:pt x="144793" y="958256"/>
                  </a:lnTo>
                  <a:lnTo>
                    <a:pt x="144793" y="36182"/>
                  </a:lnTo>
                  <a:lnTo>
                    <a:pt x="125273" y="2446"/>
                  </a:lnTo>
                  <a:lnTo>
                    <a:pt x="121612" y="0"/>
                  </a:lnTo>
                  <a:lnTo>
                    <a:pt x="125955" y="863"/>
                  </a:lnTo>
                  <a:lnTo>
                    <a:pt x="158089" y="22334"/>
                  </a:lnTo>
                  <a:lnTo>
                    <a:pt x="170391" y="55009"/>
                  </a:lnTo>
                  <a:lnTo>
                    <a:pt x="170391" y="971574"/>
                  </a:lnTo>
                  <a:lnTo>
                    <a:pt x="162467" y="997696"/>
                  </a:lnTo>
                  <a:lnTo>
                    <a:pt x="159563" y="1002043"/>
                  </a:lnTo>
                  <a:close/>
                </a:path>
                <a:path w="170815" h="1028065">
                  <a:moveTo>
                    <a:pt x="114324" y="1027642"/>
                  </a:moveTo>
                  <a:lnTo>
                    <a:pt x="55009" y="1027642"/>
                  </a:lnTo>
                  <a:lnTo>
                    <a:pt x="51106" y="1027257"/>
                  </a:lnTo>
                  <a:lnTo>
                    <a:pt x="13731" y="1007279"/>
                  </a:lnTo>
                  <a:lnTo>
                    <a:pt x="94" y="979340"/>
                  </a:lnTo>
                  <a:lnTo>
                    <a:pt x="0" y="978863"/>
                  </a:lnTo>
                  <a:lnTo>
                    <a:pt x="36181" y="1002043"/>
                  </a:lnTo>
                  <a:lnTo>
                    <a:pt x="159563" y="1002043"/>
                  </a:lnTo>
                  <a:lnTo>
                    <a:pt x="158089" y="1004248"/>
                  </a:lnTo>
                  <a:lnTo>
                    <a:pt x="125955" y="1025720"/>
                  </a:lnTo>
                  <a:lnTo>
                    <a:pt x="118226" y="1027257"/>
                  </a:lnTo>
                  <a:lnTo>
                    <a:pt x="114324" y="1027642"/>
                  </a:lnTo>
                  <a:close/>
                </a:path>
              </a:pathLst>
            </a:custGeom>
            <a:solidFill>
              <a:srgbClr val="CCC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23949" y="616267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105232" y="1009649"/>
                  </a:moveTo>
                  <a:lnTo>
                    <a:pt x="47167" y="1009649"/>
                  </a:lnTo>
                  <a:lnTo>
                    <a:pt x="43884" y="1009326"/>
                  </a:lnTo>
                  <a:lnTo>
                    <a:pt x="10349" y="989969"/>
                  </a:lnTo>
                  <a:lnTo>
                    <a:pt x="0" y="962481"/>
                  </a:lnTo>
                  <a:lnTo>
                    <a:pt x="0" y="959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105232" y="0"/>
                  </a:lnTo>
                  <a:lnTo>
                    <a:pt x="139957" y="17129"/>
                  </a:lnTo>
                  <a:lnTo>
                    <a:pt x="152399" y="47167"/>
                  </a:lnTo>
                  <a:lnTo>
                    <a:pt x="152399" y="962481"/>
                  </a:lnTo>
                  <a:lnTo>
                    <a:pt x="135269" y="997207"/>
                  </a:lnTo>
                  <a:lnTo>
                    <a:pt x="108515" y="1009326"/>
                  </a:lnTo>
                  <a:lnTo>
                    <a:pt x="105232" y="10096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23949" y="6162674"/>
              <a:ext cx="152400" cy="1009650"/>
            </a:xfrm>
            <a:custGeom>
              <a:avLst/>
              <a:gdLst/>
              <a:ahLst/>
              <a:cxnLst/>
              <a:rect l="l" t="t" r="r" b="b"/>
              <a:pathLst>
                <a:path w="15240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2"/>
                  </a:lnTo>
                  <a:lnTo>
                    <a:pt x="5111" y="28099"/>
                  </a:lnTo>
                  <a:lnTo>
                    <a:pt x="6666" y="25190"/>
                  </a:lnTo>
                  <a:lnTo>
                    <a:pt x="8507" y="22434"/>
                  </a:lnTo>
                  <a:lnTo>
                    <a:pt x="10349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101917" y="0"/>
                  </a:lnTo>
                  <a:lnTo>
                    <a:pt x="105232" y="0"/>
                  </a:lnTo>
                  <a:lnTo>
                    <a:pt x="108515" y="323"/>
                  </a:lnTo>
                  <a:lnTo>
                    <a:pt x="111766" y="969"/>
                  </a:lnTo>
                  <a:lnTo>
                    <a:pt x="115017" y="1616"/>
                  </a:lnTo>
                  <a:lnTo>
                    <a:pt x="118173" y="2573"/>
                  </a:lnTo>
                  <a:lnTo>
                    <a:pt x="121236" y="3842"/>
                  </a:lnTo>
                  <a:lnTo>
                    <a:pt x="124298" y="5110"/>
                  </a:lnTo>
                  <a:lnTo>
                    <a:pt x="127207" y="6665"/>
                  </a:lnTo>
                  <a:lnTo>
                    <a:pt x="129963" y="8507"/>
                  </a:lnTo>
                  <a:lnTo>
                    <a:pt x="132719" y="10348"/>
                  </a:lnTo>
                  <a:lnTo>
                    <a:pt x="135269" y="12441"/>
                  </a:lnTo>
                  <a:lnTo>
                    <a:pt x="137613" y="14785"/>
                  </a:lnTo>
                  <a:lnTo>
                    <a:pt x="139957" y="17129"/>
                  </a:lnTo>
                  <a:lnTo>
                    <a:pt x="142050" y="19679"/>
                  </a:lnTo>
                  <a:lnTo>
                    <a:pt x="143892" y="22435"/>
                  </a:lnTo>
                  <a:lnTo>
                    <a:pt x="145733" y="25190"/>
                  </a:lnTo>
                  <a:lnTo>
                    <a:pt x="147288" y="28099"/>
                  </a:lnTo>
                  <a:lnTo>
                    <a:pt x="148557" y="31163"/>
                  </a:lnTo>
                  <a:lnTo>
                    <a:pt x="149825" y="34225"/>
                  </a:lnTo>
                  <a:lnTo>
                    <a:pt x="150783" y="37382"/>
                  </a:lnTo>
                  <a:lnTo>
                    <a:pt x="151429" y="40633"/>
                  </a:lnTo>
                  <a:lnTo>
                    <a:pt x="152076" y="43884"/>
                  </a:lnTo>
                  <a:lnTo>
                    <a:pt x="152399" y="47167"/>
                  </a:lnTo>
                  <a:lnTo>
                    <a:pt x="152399" y="50482"/>
                  </a:lnTo>
                  <a:lnTo>
                    <a:pt x="152399" y="959167"/>
                  </a:lnTo>
                  <a:lnTo>
                    <a:pt x="152399" y="962481"/>
                  </a:lnTo>
                  <a:lnTo>
                    <a:pt x="152076" y="965764"/>
                  </a:lnTo>
                  <a:lnTo>
                    <a:pt x="151429" y="969015"/>
                  </a:lnTo>
                  <a:lnTo>
                    <a:pt x="150783" y="972266"/>
                  </a:lnTo>
                  <a:lnTo>
                    <a:pt x="143891" y="987212"/>
                  </a:lnTo>
                  <a:lnTo>
                    <a:pt x="142050" y="989969"/>
                  </a:lnTo>
                  <a:lnTo>
                    <a:pt x="108515" y="1009326"/>
                  </a:lnTo>
                  <a:lnTo>
                    <a:pt x="101917" y="1009649"/>
                  </a:lnTo>
                  <a:lnTo>
                    <a:pt x="50482" y="1009649"/>
                  </a:lnTo>
                  <a:lnTo>
                    <a:pt x="47167" y="1009649"/>
                  </a:lnTo>
                  <a:lnTo>
                    <a:pt x="43884" y="1009326"/>
                  </a:lnTo>
                  <a:lnTo>
                    <a:pt x="40633" y="1008679"/>
                  </a:lnTo>
                  <a:lnTo>
                    <a:pt x="37382" y="1008032"/>
                  </a:lnTo>
                  <a:lnTo>
                    <a:pt x="8507" y="987212"/>
                  </a:lnTo>
                  <a:lnTo>
                    <a:pt x="6666" y="984456"/>
                  </a:lnTo>
                  <a:lnTo>
                    <a:pt x="0" y="962481"/>
                  </a:lnTo>
                  <a:lnTo>
                    <a:pt x="0" y="959167"/>
                  </a:lnTo>
                  <a:close/>
                </a:path>
              </a:pathLst>
            </a:custGeom>
            <a:ln w="19049">
              <a:solidFill>
                <a:srgbClr val="CCC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444624" y="6307137"/>
            <a:ext cx="625919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4B4B4B"/>
                </a:solidFill>
                <a:latin typeface="Cambria"/>
                <a:cs typeface="Cambria"/>
              </a:rPr>
              <a:t>5.</a:t>
            </a:r>
            <a:r>
              <a:rPr sz="1650" spc="4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4B4B4B"/>
                </a:solidFill>
                <a:latin typeface="Cambria"/>
                <a:cs typeface="Cambria"/>
              </a:rPr>
              <a:t>Results</a:t>
            </a:r>
            <a:r>
              <a:rPr sz="1650" spc="4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135" dirty="0">
                <a:solidFill>
                  <a:srgbClr val="4B4B4B"/>
                </a:solidFill>
                <a:latin typeface="Cambria"/>
                <a:cs typeface="Cambria"/>
              </a:rPr>
              <a:t>&amp;</a:t>
            </a:r>
            <a:r>
              <a:rPr sz="1650" spc="4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4B4B4B"/>
                </a:solidFill>
                <a:latin typeface="Cambria"/>
                <a:cs typeface="Cambria"/>
              </a:rPr>
              <a:t>Conclusion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Interpret</a:t>
            </a:r>
            <a:r>
              <a:rPr sz="13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clusters,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assess</a:t>
            </a:r>
            <a:r>
              <a:rPr sz="13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silhouette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structure,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recommend</a:t>
            </a:r>
            <a:r>
              <a:rPr sz="13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analyst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workflow.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3093" y="7393939"/>
            <a:ext cx="76733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roadmap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above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is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90" dirty="0">
                <a:solidFill>
                  <a:srgbClr val="4B4B4B"/>
                </a:solidFill>
                <a:latin typeface="Cambria"/>
                <a:cs typeface="Cambria"/>
              </a:rPr>
              <a:t>a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numbered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research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workflow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each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stage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flows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into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next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form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project's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5" dirty="0">
                <a:solidFill>
                  <a:srgbClr val="4B4B4B"/>
                </a:solidFill>
                <a:latin typeface="Cambria"/>
                <a:cs typeface="Cambria"/>
              </a:rPr>
              <a:t>lifecycle.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30" name="object 3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562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048625"/>
          </a:xfrm>
          <a:custGeom>
            <a:avLst/>
            <a:gdLst/>
            <a:ahLst/>
            <a:cxnLst/>
            <a:rect l="l" t="t" r="r" b="b"/>
            <a:pathLst>
              <a:path w="11430000" h="8048625">
                <a:moveTo>
                  <a:pt x="11429999" y="8048624"/>
                </a:moveTo>
                <a:lnTo>
                  <a:pt x="0" y="80486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048624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63550"/>
            <a:ext cx="63900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Literature</a:t>
            </a:r>
            <a:r>
              <a:rPr spc="5" dirty="0"/>
              <a:t> </a:t>
            </a:r>
            <a:r>
              <a:rPr spc="250" dirty="0"/>
              <a:t>&amp;</a:t>
            </a:r>
            <a:r>
              <a:rPr spc="10" dirty="0"/>
              <a:t> </a:t>
            </a:r>
            <a:r>
              <a:rPr spc="155" dirty="0"/>
              <a:t>Research</a:t>
            </a:r>
            <a:r>
              <a:rPr spc="10" dirty="0"/>
              <a:t> </a:t>
            </a:r>
            <a:r>
              <a:rPr spc="135" dirty="0"/>
              <a:t>Direction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72033" y="1414237"/>
            <a:ext cx="1532890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750" spc="165" dirty="0">
                <a:solidFill>
                  <a:srgbClr val="4B4B4B"/>
                </a:solidFill>
                <a:latin typeface="Cambria"/>
                <a:cs typeface="Cambria"/>
              </a:rPr>
              <a:t>ML</a:t>
            </a:r>
            <a:r>
              <a:rPr sz="17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4B4B4B"/>
                </a:solidFill>
                <a:latin typeface="Cambria"/>
                <a:cs typeface="Cambria"/>
              </a:rPr>
              <a:t>in</a:t>
            </a:r>
            <a:r>
              <a:rPr sz="17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4B4B4B"/>
                </a:solidFill>
                <a:latin typeface="Cambria"/>
                <a:cs typeface="Cambria"/>
              </a:rPr>
              <a:t>Security</a:t>
            </a:r>
            <a:endParaRPr sz="1750">
              <a:latin typeface="Cambria"/>
              <a:cs typeface="Cambria"/>
            </a:endParaRPr>
          </a:p>
          <a:p>
            <a:pPr marL="54610" marR="51435" algn="ctr">
              <a:lnSpc>
                <a:spcPct val="101400"/>
              </a:lnSpc>
              <a:spcBef>
                <a:spcPts val="705"/>
              </a:spcBef>
            </a:pP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Foundations</a:t>
            </a: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and </a:t>
            </a:r>
            <a:r>
              <a:rPr sz="1400" spc="45" dirty="0">
                <a:solidFill>
                  <a:srgbClr val="4B4B4B"/>
                </a:solidFill>
                <a:latin typeface="Cambria"/>
                <a:cs typeface="Cambria"/>
              </a:rPr>
              <a:t>objectives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74788" y="1374891"/>
            <a:ext cx="1765300" cy="9404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10"/>
              </a:spcBef>
            </a:pPr>
            <a:r>
              <a:rPr sz="17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endParaRPr sz="1750">
              <a:latin typeface="Cambria"/>
              <a:cs typeface="Cambria"/>
            </a:endParaRPr>
          </a:p>
          <a:p>
            <a:pPr marL="12700" marR="5080" algn="ctr">
              <a:lnSpc>
                <a:spcPct val="106000"/>
              </a:lnSpc>
              <a:spcBef>
                <a:spcPts val="630"/>
              </a:spcBef>
            </a:pPr>
            <a:r>
              <a:rPr sz="1400" spc="95" dirty="0">
                <a:solidFill>
                  <a:srgbClr val="4B4B4B"/>
                </a:solidFill>
                <a:latin typeface="Cambria"/>
                <a:cs typeface="Cambria"/>
              </a:rPr>
              <a:t>Group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similar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traffic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behaviors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143" y="2526791"/>
            <a:ext cx="9900285" cy="2362200"/>
            <a:chOff x="771143" y="2526791"/>
            <a:chExt cx="9900285" cy="2362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0423" y="2526791"/>
              <a:ext cx="838199" cy="11155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1311" y="3776471"/>
              <a:ext cx="838199" cy="11125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343" y="2526791"/>
              <a:ext cx="838199" cy="11155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9" y="3776471"/>
              <a:ext cx="835151" cy="11125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143" y="2990087"/>
              <a:ext cx="9899903" cy="1447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143" y="3197351"/>
              <a:ext cx="9899903" cy="10241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16491" y="2823131"/>
              <a:ext cx="254000" cy="371475"/>
            </a:xfrm>
            <a:custGeom>
              <a:avLst/>
              <a:gdLst/>
              <a:ahLst/>
              <a:cxnLst/>
              <a:rect l="l" t="t" r="r" b="b"/>
              <a:pathLst>
                <a:path w="254000" h="371475">
                  <a:moveTo>
                    <a:pt x="253920" y="22106"/>
                  </a:moveTo>
                  <a:lnTo>
                    <a:pt x="244293" y="16322"/>
                  </a:lnTo>
                  <a:lnTo>
                    <a:pt x="239672" y="12553"/>
                  </a:lnTo>
                  <a:lnTo>
                    <a:pt x="236374" y="8606"/>
                  </a:lnTo>
                  <a:lnTo>
                    <a:pt x="230753" y="0"/>
                  </a:lnTo>
                </a:path>
                <a:path w="254000" h="371475">
                  <a:moveTo>
                    <a:pt x="230820" y="46631"/>
                  </a:moveTo>
                  <a:lnTo>
                    <a:pt x="224662" y="35682"/>
                  </a:lnTo>
                  <a:lnTo>
                    <a:pt x="221192" y="30991"/>
                  </a:lnTo>
                  <a:lnTo>
                    <a:pt x="217158" y="27244"/>
                  </a:lnTo>
                  <a:lnTo>
                    <a:pt x="210192" y="22047"/>
                  </a:lnTo>
                </a:path>
                <a:path w="254000" h="371475">
                  <a:moveTo>
                    <a:pt x="0" y="130657"/>
                  </a:moveTo>
                  <a:lnTo>
                    <a:pt x="17463" y="120131"/>
                  </a:lnTo>
                  <a:lnTo>
                    <a:pt x="24871" y="119514"/>
                  </a:lnTo>
                  <a:lnTo>
                    <a:pt x="71323" y="110860"/>
                  </a:lnTo>
                  <a:lnTo>
                    <a:pt x="105145" y="97461"/>
                  </a:lnTo>
                  <a:lnTo>
                    <a:pt x="113095" y="93778"/>
                  </a:lnTo>
                  <a:lnTo>
                    <a:pt x="117887" y="91833"/>
                  </a:lnTo>
                  <a:lnTo>
                    <a:pt x="119546" y="92151"/>
                  </a:lnTo>
                  <a:lnTo>
                    <a:pt x="123160" y="93571"/>
                  </a:lnTo>
                  <a:lnTo>
                    <a:pt x="130580" y="97011"/>
                  </a:lnTo>
                  <a:lnTo>
                    <a:pt x="143650" y="103390"/>
                  </a:lnTo>
                  <a:lnTo>
                    <a:pt x="150895" y="106195"/>
                  </a:lnTo>
                  <a:lnTo>
                    <a:pt x="189110" y="116511"/>
                  </a:lnTo>
                  <a:lnTo>
                    <a:pt x="227666" y="120341"/>
                  </a:lnTo>
                  <a:lnTo>
                    <a:pt x="231035" y="120972"/>
                  </a:lnTo>
                  <a:lnTo>
                    <a:pt x="233472" y="122309"/>
                  </a:lnTo>
                  <a:lnTo>
                    <a:pt x="235355" y="124326"/>
                  </a:lnTo>
                  <a:lnTo>
                    <a:pt x="236474" y="127197"/>
                  </a:lnTo>
                  <a:lnTo>
                    <a:pt x="236766" y="129928"/>
                  </a:lnTo>
                </a:path>
                <a:path w="254000" h="371475">
                  <a:moveTo>
                    <a:pt x="236634" y="208171"/>
                  </a:moveTo>
                  <a:lnTo>
                    <a:pt x="228485" y="250582"/>
                  </a:lnTo>
                  <a:lnTo>
                    <a:pt x="208733" y="290149"/>
                  </a:lnTo>
                  <a:lnTo>
                    <a:pt x="184286" y="320562"/>
                  </a:lnTo>
                  <a:lnTo>
                    <a:pt x="151783" y="350108"/>
                  </a:lnTo>
                  <a:lnTo>
                    <a:pt x="119876" y="371271"/>
                  </a:lnTo>
                  <a:lnTo>
                    <a:pt x="117400" y="371239"/>
                  </a:lnTo>
                  <a:lnTo>
                    <a:pt x="85273" y="350253"/>
                  </a:lnTo>
                  <a:lnTo>
                    <a:pt x="52417" y="320064"/>
                  </a:lnTo>
                  <a:lnTo>
                    <a:pt x="28226" y="290799"/>
                  </a:lnTo>
                  <a:lnTo>
                    <a:pt x="25149" y="285993"/>
                  </a:lnTo>
                </a:path>
                <a:path w="254000" h="371475">
                  <a:moveTo>
                    <a:pt x="118317" y="321889"/>
                  </a:moveTo>
                  <a:lnTo>
                    <a:pt x="118378" y="133066"/>
                  </a:lnTo>
                </a:path>
              </a:pathLst>
            </a:custGeom>
            <a:ln w="17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75216" y="2789093"/>
              <a:ext cx="212087" cy="1163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03588" y="2839483"/>
              <a:ext cx="250190" cy="269875"/>
            </a:xfrm>
            <a:custGeom>
              <a:avLst/>
              <a:gdLst/>
              <a:ahLst/>
              <a:cxnLst/>
              <a:rect l="l" t="t" r="r" b="b"/>
              <a:pathLst>
                <a:path w="250189" h="269875">
                  <a:moveTo>
                    <a:pt x="249668" y="113576"/>
                  </a:moveTo>
                  <a:lnTo>
                    <a:pt x="249537" y="191819"/>
                  </a:lnTo>
                </a:path>
                <a:path w="250189" h="269875">
                  <a:moveTo>
                    <a:pt x="22436" y="0"/>
                  </a:moveTo>
                  <a:lnTo>
                    <a:pt x="22442" y="48114"/>
                  </a:lnTo>
                </a:path>
                <a:path w="250189" h="269875">
                  <a:moveTo>
                    <a:pt x="0" y="24612"/>
                  </a:moveTo>
                  <a:lnTo>
                    <a:pt x="45013" y="24504"/>
                  </a:lnTo>
                </a:path>
                <a:path w="250189" h="269875">
                  <a:moveTo>
                    <a:pt x="37922" y="269722"/>
                  </a:moveTo>
                  <a:lnTo>
                    <a:pt x="20413" y="231699"/>
                  </a:lnTo>
                  <a:lnTo>
                    <a:pt x="12843" y="190427"/>
                  </a:lnTo>
                  <a:lnTo>
                    <a:pt x="12648" y="176475"/>
                  </a:lnTo>
                  <a:lnTo>
                    <a:pt x="13625" y="162457"/>
                  </a:lnTo>
                </a:path>
                <a:path w="250189" h="269875">
                  <a:moveTo>
                    <a:pt x="12849" y="162371"/>
                  </a:moveTo>
                  <a:lnTo>
                    <a:pt x="12902" y="114305"/>
                  </a:lnTo>
                </a:path>
              </a:pathLst>
            </a:custGeom>
            <a:ln w="17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628751" y="2779523"/>
            <a:ext cx="3911600" cy="1868805"/>
            <a:chOff x="4628751" y="2779523"/>
            <a:chExt cx="3911600" cy="1868805"/>
          </a:xfrm>
        </p:grpSpPr>
        <p:sp>
          <p:nvSpPr>
            <p:cNvPr id="17" name="object 17"/>
            <p:cNvSpPr/>
            <p:nvPr/>
          </p:nvSpPr>
          <p:spPr>
            <a:xfrm>
              <a:off x="4628751" y="4265845"/>
              <a:ext cx="365760" cy="353695"/>
            </a:xfrm>
            <a:custGeom>
              <a:avLst/>
              <a:gdLst/>
              <a:ahLst/>
              <a:cxnLst/>
              <a:rect l="l" t="t" r="r" b="b"/>
              <a:pathLst>
                <a:path w="365760" h="353695">
                  <a:moveTo>
                    <a:pt x="83022" y="353432"/>
                  </a:moveTo>
                  <a:lnTo>
                    <a:pt x="76276" y="353019"/>
                  </a:lnTo>
                  <a:lnTo>
                    <a:pt x="65950" y="345584"/>
                  </a:lnTo>
                  <a:lnTo>
                    <a:pt x="63403" y="339319"/>
                  </a:lnTo>
                  <a:lnTo>
                    <a:pt x="82472" y="226075"/>
                  </a:lnTo>
                  <a:lnTo>
                    <a:pt x="5920" y="150212"/>
                  </a:lnTo>
                  <a:lnTo>
                    <a:pt x="1566" y="145806"/>
                  </a:lnTo>
                  <a:lnTo>
                    <a:pt x="0" y="139404"/>
                  </a:lnTo>
                  <a:lnTo>
                    <a:pt x="3544" y="128389"/>
                  </a:lnTo>
                  <a:lnTo>
                    <a:pt x="4019" y="127287"/>
                  </a:lnTo>
                  <a:lnTo>
                    <a:pt x="9018" y="123088"/>
                  </a:lnTo>
                  <a:lnTo>
                    <a:pt x="120679" y="106566"/>
                  </a:lnTo>
                  <a:lnTo>
                    <a:pt x="167904" y="9293"/>
                  </a:lnTo>
                  <a:lnTo>
                    <a:pt x="170658" y="3579"/>
                  </a:lnTo>
                  <a:lnTo>
                    <a:pt x="176440" y="0"/>
                  </a:lnTo>
                  <a:lnTo>
                    <a:pt x="189107" y="0"/>
                  </a:lnTo>
                  <a:lnTo>
                    <a:pt x="194890" y="3579"/>
                  </a:lnTo>
                  <a:lnTo>
                    <a:pt x="197643" y="9293"/>
                  </a:lnTo>
                  <a:lnTo>
                    <a:pt x="207269" y="29119"/>
                  </a:lnTo>
                  <a:lnTo>
                    <a:pt x="182774" y="29119"/>
                  </a:lnTo>
                  <a:lnTo>
                    <a:pt x="137338" y="122744"/>
                  </a:lnTo>
                  <a:lnTo>
                    <a:pt x="131235" y="127287"/>
                  </a:lnTo>
                  <a:lnTo>
                    <a:pt x="131624" y="127287"/>
                  </a:lnTo>
                  <a:lnTo>
                    <a:pt x="29326" y="142364"/>
                  </a:lnTo>
                  <a:lnTo>
                    <a:pt x="102986" y="215405"/>
                  </a:lnTo>
                  <a:lnTo>
                    <a:pt x="105327" y="222633"/>
                  </a:lnTo>
                  <a:lnTo>
                    <a:pt x="104157" y="229724"/>
                  </a:lnTo>
                  <a:lnTo>
                    <a:pt x="87979" y="325758"/>
                  </a:lnTo>
                  <a:lnTo>
                    <a:pt x="134784" y="325758"/>
                  </a:lnTo>
                  <a:lnTo>
                    <a:pt x="83022" y="353432"/>
                  </a:lnTo>
                  <a:close/>
                </a:path>
                <a:path w="365760" h="353695">
                  <a:moveTo>
                    <a:pt x="299935" y="325758"/>
                  </a:moveTo>
                  <a:lnTo>
                    <a:pt x="277500" y="325758"/>
                  </a:lnTo>
                  <a:lnTo>
                    <a:pt x="261322" y="229724"/>
                  </a:lnTo>
                  <a:lnTo>
                    <a:pt x="260083" y="222633"/>
                  </a:lnTo>
                  <a:lnTo>
                    <a:pt x="262423" y="215405"/>
                  </a:lnTo>
                  <a:lnTo>
                    <a:pt x="336221" y="142364"/>
                  </a:lnTo>
                  <a:lnTo>
                    <a:pt x="234405" y="127287"/>
                  </a:lnTo>
                  <a:lnTo>
                    <a:pt x="228209" y="122744"/>
                  </a:lnTo>
                  <a:lnTo>
                    <a:pt x="182774" y="29119"/>
                  </a:lnTo>
                  <a:lnTo>
                    <a:pt x="207269" y="29119"/>
                  </a:lnTo>
                  <a:lnTo>
                    <a:pt x="244869" y="106566"/>
                  </a:lnTo>
                  <a:lnTo>
                    <a:pt x="356599" y="123088"/>
                  </a:lnTo>
                  <a:lnTo>
                    <a:pt x="361598" y="127287"/>
                  </a:lnTo>
                  <a:lnTo>
                    <a:pt x="362075" y="128389"/>
                  </a:lnTo>
                  <a:lnTo>
                    <a:pt x="365617" y="139266"/>
                  </a:lnTo>
                  <a:lnTo>
                    <a:pt x="364102" y="145806"/>
                  </a:lnTo>
                  <a:lnTo>
                    <a:pt x="283076" y="226075"/>
                  </a:lnTo>
                  <a:lnTo>
                    <a:pt x="299935" y="325758"/>
                  </a:lnTo>
                  <a:close/>
                </a:path>
                <a:path w="365760" h="353695">
                  <a:moveTo>
                    <a:pt x="134784" y="325758"/>
                  </a:moveTo>
                  <a:lnTo>
                    <a:pt x="87979" y="325758"/>
                  </a:lnTo>
                  <a:lnTo>
                    <a:pt x="178919" y="277224"/>
                  </a:lnTo>
                  <a:lnTo>
                    <a:pt x="186698" y="277224"/>
                  </a:lnTo>
                  <a:lnTo>
                    <a:pt x="229476" y="300080"/>
                  </a:lnTo>
                  <a:lnTo>
                    <a:pt x="182843" y="300080"/>
                  </a:lnTo>
                  <a:lnTo>
                    <a:pt x="134784" y="325758"/>
                  </a:lnTo>
                  <a:close/>
                </a:path>
                <a:path w="365760" h="353695">
                  <a:moveTo>
                    <a:pt x="282663" y="353432"/>
                  </a:moveTo>
                  <a:lnTo>
                    <a:pt x="281923" y="353019"/>
                  </a:lnTo>
                  <a:lnTo>
                    <a:pt x="182843" y="300080"/>
                  </a:lnTo>
                  <a:lnTo>
                    <a:pt x="229476" y="300080"/>
                  </a:lnTo>
                  <a:lnTo>
                    <a:pt x="277500" y="325758"/>
                  </a:lnTo>
                  <a:lnTo>
                    <a:pt x="299935" y="325758"/>
                  </a:lnTo>
                  <a:lnTo>
                    <a:pt x="302214" y="339319"/>
                  </a:lnTo>
                  <a:lnTo>
                    <a:pt x="299598" y="345584"/>
                  </a:lnTo>
                  <a:lnTo>
                    <a:pt x="289409" y="353019"/>
                  </a:lnTo>
                  <a:lnTo>
                    <a:pt x="282663" y="353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4923" y="2779523"/>
              <a:ext cx="414093" cy="3545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34736" y="4244658"/>
              <a:ext cx="396875" cy="394970"/>
            </a:xfrm>
            <a:custGeom>
              <a:avLst/>
              <a:gdLst/>
              <a:ahLst/>
              <a:cxnLst/>
              <a:rect l="l" t="t" r="r" b="b"/>
              <a:pathLst>
                <a:path w="396875" h="394970">
                  <a:moveTo>
                    <a:pt x="328822" y="344629"/>
                  </a:moveTo>
                  <a:lnTo>
                    <a:pt x="330793" y="337849"/>
                  </a:lnTo>
                  <a:lnTo>
                    <a:pt x="331500" y="329941"/>
                  </a:lnTo>
                  <a:lnTo>
                    <a:pt x="331083" y="319626"/>
                  </a:lnTo>
                  <a:lnTo>
                    <a:pt x="319711" y="278959"/>
                  </a:lnTo>
                  <a:lnTo>
                    <a:pt x="296552" y="247343"/>
                  </a:lnTo>
                  <a:lnTo>
                    <a:pt x="265139" y="225326"/>
                  </a:lnTo>
                  <a:lnTo>
                    <a:pt x="258561" y="222147"/>
                  </a:lnTo>
                  <a:lnTo>
                    <a:pt x="249091" y="218665"/>
                  </a:lnTo>
                </a:path>
                <a:path w="396875" h="394970">
                  <a:moveTo>
                    <a:pt x="170461" y="213410"/>
                  </a:moveTo>
                  <a:lnTo>
                    <a:pt x="127796" y="227629"/>
                  </a:lnTo>
                  <a:lnTo>
                    <a:pt x="92503" y="255238"/>
                  </a:lnTo>
                  <a:lnTo>
                    <a:pt x="72056" y="290934"/>
                  </a:lnTo>
                  <a:lnTo>
                    <a:pt x="65257" y="328220"/>
                  </a:lnTo>
                  <a:lnTo>
                    <a:pt x="65771" y="336747"/>
                  </a:lnTo>
                  <a:lnTo>
                    <a:pt x="66833" y="340389"/>
                  </a:lnTo>
                  <a:lnTo>
                    <a:pt x="68410" y="343981"/>
                  </a:lnTo>
                </a:path>
                <a:path w="396875" h="394970">
                  <a:moveTo>
                    <a:pt x="125" y="0"/>
                  </a:moveTo>
                  <a:lnTo>
                    <a:pt x="72144" y="44"/>
                  </a:lnTo>
                </a:path>
                <a:path w="396875" h="394970">
                  <a:moveTo>
                    <a:pt x="253" y="71845"/>
                  </a:moveTo>
                  <a:lnTo>
                    <a:pt x="125" y="0"/>
                  </a:lnTo>
                </a:path>
                <a:path w="396875" h="394970">
                  <a:moveTo>
                    <a:pt x="323970" y="21"/>
                  </a:moveTo>
                  <a:lnTo>
                    <a:pt x="396523" y="21"/>
                  </a:lnTo>
                </a:path>
                <a:path w="396875" h="394970">
                  <a:moveTo>
                    <a:pt x="396498" y="71845"/>
                  </a:moveTo>
                  <a:lnTo>
                    <a:pt x="396523" y="21"/>
                  </a:lnTo>
                </a:path>
                <a:path w="396875" h="394970">
                  <a:moveTo>
                    <a:pt x="272784" y="119960"/>
                  </a:moveTo>
                  <a:lnTo>
                    <a:pt x="272784" y="124854"/>
                  </a:lnTo>
                  <a:lnTo>
                    <a:pt x="272306" y="129702"/>
                  </a:lnTo>
                  <a:lnTo>
                    <a:pt x="271351" y="134503"/>
                  </a:lnTo>
                  <a:lnTo>
                    <a:pt x="270396" y="139304"/>
                  </a:lnTo>
                  <a:lnTo>
                    <a:pt x="268982" y="143965"/>
                  </a:lnTo>
                  <a:lnTo>
                    <a:pt x="267109" y="148488"/>
                  </a:lnTo>
                  <a:lnTo>
                    <a:pt x="265236" y="153010"/>
                  </a:lnTo>
                  <a:lnTo>
                    <a:pt x="239652" y="181943"/>
                  </a:lnTo>
                  <a:lnTo>
                    <a:pt x="235583" y="184663"/>
                  </a:lnTo>
                  <a:lnTo>
                    <a:pt x="212780" y="193075"/>
                  </a:lnTo>
                  <a:lnTo>
                    <a:pt x="207979" y="194030"/>
                  </a:lnTo>
                  <a:lnTo>
                    <a:pt x="203131" y="194507"/>
                  </a:lnTo>
                  <a:lnTo>
                    <a:pt x="198236" y="194507"/>
                  </a:lnTo>
                  <a:lnTo>
                    <a:pt x="193341" y="194507"/>
                  </a:lnTo>
                  <a:lnTo>
                    <a:pt x="156820" y="181943"/>
                  </a:lnTo>
                  <a:lnTo>
                    <a:pt x="145523" y="172673"/>
                  </a:lnTo>
                  <a:lnTo>
                    <a:pt x="142062" y="169211"/>
                  </a:lnTo>
                  <a:lnTo>
                    <a:pt x="129363" y="148488"/>
                  </a:lnTo>
                  <a:lnTo>
                    <a:pt x="127490" y="143965"/>
                  </a:lnTo>
                  <a:lnTo>
                    <a:pt x="126076" y="139304"/>
                  </a:lnTo>
                  <a:lnTo>
                    <a:pt x="125121" y="134503"/>
                  </a:lnTo>
                  <a:lnTo>
                    <a:pt x="124166" y="129702"/>
                  </a:lnTo>
                  <a:lnTo>
                    <a:pt x="123689" y="124854"/>
                  </a:lnTo>
                  <a:lnTo>
                    <a:pt x="123689" y="119960"/>
                  </a:lnTo>
                  <a:lnTo>
                    <a:pt x="123689" y="115065"/>
                  </a:lnTo>
                  <a:lnTo>
                    <a:pt x="124166" y="110217"/>
                  </a:lnTo>
                  <a:lnTo>
                    <a:pt x="125121" y="105416"/>
                  </a:lnTo>
                  <a:lnTo>
                    <a:pt x="126076" y="100615"/>
                  </a:lnTo>
                  <a:lnTo>
                    <a:pt x="127490" y="95954"/>
                  </a:lnTo>
                  <a:lnTo>
                    <a:pt x="129363" y="91431"/>
                  </a:lnTo>
                  <a:lnTo>
                    <a:pt x="131236" y="86909"/>
                  </a:lnTo>
                  <a:lnTo>
                    <a:pt x="156820" y="57976"/>
                  </a:lnTo>
                  <a:lnTo>
                    <a:pt x="169708" y="51087"/>
                  </a:lnTo>
                  <a:lnTo>
                    <a:pt x="174230" y="49213"/>
                  </a:lnTo>
                  <a:lnTo>
                    <a:pt x="178892" y="47799"/>
                  </a:lnTo>
                  <a:lnTo>
                    <a:pt x="183693" y="46844"/>
                  </a:lnTo>
                  <a:lnTo>
                    <a:pt x="188493" y="45890"/>
                  </a:lnTo>
                  <a:lnTo>
                    <a:pt x="193341" y="45412"/>
                  </a:lnTo>
                  <a:lnTo>
                    <a:pt x="198236" y="45412"/>
                  </a:lnTo>
                  <a:lnTo>
                    <a:pt x="203131" y="45412"/>
                  </a:lnTo>
                  <a:lnTo>
                    <a:pt x="226764" y="51087"/>
                  </a:lnTo>
                  <a:lnTo>
                    <a:pt x="231286" y="52960"/>
                  </a:lnTo>
                  <a:lnTo>
                    <a:pt x="260220" y="78543"/>
                  </a:lnTo>
                  <a:lnTo>
                    <a:pt x="267109" y="91431"/>
                  </a:lnTo>
                  <a:lnTo>
                    <a:pt x="268982" y="95954"/>
                  </a:lnTo>
                  <a:lnTo>
                    <a:pt x="270396" y="100615"/>
                  </a:lnTo>
                  <a:lnTo>
                    <a:pt x="271351" y="105416"/>
                  </a:lnTo>
                  <a:lnTo>
                    <a:pt x="272306" y="110217"/>
                  </a:lnTo>
                  <a:lnTo>
                    <a:pt x="272784" y="115065"/>
                  </a:lnTo>
                  <a:lnTo>
                    <a:pt x="272784" y="119960"/>
                  </a:lnTo>
                  <a:close/>
                </a:path>
                <a:path w="396875" h="394970">
                  <a:moveTo>
                    <a:pt x="328822" y="344629"/>
                  </a:moveTo>
                  <a:lnTo>
                    <a:pt x="68410" y="343981"/>
                  </a:lnTo>
                </a:path>
                <a:path w="396875" h="394970">
                  <a:moveTo>
                    <a:pt x="78" y="322623"/>
                  </a:moveTo>
                  <a:lnTo>
                    <a:pt x="0" y="394842"/>
                  </a:lnTo>
                </a:path>
                <a:path w="396875" h="394970">
                  <a:moveTo>
                    <a:pt x="72045" y="394838"/>
                  </a:moveTo>
                  <a:lnTo>
                    <a:pt x="0" y="394842"/>
                  </a:lnTo>
                </a:path>
                <a:path w="396875" h="394970">
                  <a:moveTo>
                    <a:pt x="396504" y="324260"/>
                  </a:moveTo>
                  <a:lnTo>
                    <a:pt x="396527" y="394787"/>
                  </a:lnTo>
                </a:path>
                <a:path w="396875" h="394970">
                  <a:moveTo>
                    <a:pt x="323871" y="394808"/>
                  </a:moveTo>
                  <a:lnTo>
                    <a:pt x="396527" y="394787"/>
                  </a:lnTo>
                </a:path>
                <a:path w="396875" h="394970">
                  <a:moveTo>
                    <a:pt x="249091" y="218665"/>
                  </a:moveTo>
                  <a:lnTo>
                    <a:pt x="227965" y="213572"/>
                  </a:lnTo>
                  <a:lnTo>
                    <a:pt x="209443" y="211382"/>
                  </a:lnTo>
                  <a:lnTo>
                    <a:pt x="191088" y="211519"/>
                  </a:lnTo>
                  <a:lnTo>
                    <a:pt x="170461" y="213410"/>
                  </a:lnTo>
                </a:path>
              </a:pathLst>
            </a:custGeom>
            <a:ln w="17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56405" y="4816377"/>
            <a:ext cx="1510665" cy="111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30480" algn="ctr">
              <a:lnSpc>
                <a:spcPct val="107000"/>
              </a:lnSpc>
              <a:spcBef>
                <a:spcPts val="100"/>
              </a:spcBef>
            </a:pPr>
            <a:r>
              <a:rPr sz="1750" spc="60" dirty="0">
                <a:solidFill>
                  <a:srgbClr val="4B4B4B"/>
                </a:solidFill>
                <a:latin typeface="Cambria"/>
                <a:cs typeface="Cambria"/>
              </a:rPr>
              <a:t>Unsupervised </a:t>
            </a:r>
            <a:r>
              <a:rPr sz="1750" spc="80" dirty="0">
                <a:solidFill>
                  <a:srgbClr val="4B4B4B"/>
                </a:solidFill>
                <a:latin typeface="Cambria"/>
                <a:cs typeface="Cambria"/>
              </a:rPr>
              <a:t>Learning</a:t>
            </a:r>
            <a:endParaRPr sz="1750">
              <a:latin typeface="Cambria"/>
              <a:cs typeface="Cambria"/>
            </a:endParaRPr>
          </a:p>
          <a:p>
            <a:pPr marL="12700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Pattern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discovery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without</a:t>
            </a: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labels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99581" y="4866788"/>
            <a:ext cx="1657350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10"/>
              </a:spcBef>
            </a:pPr>
            <a:r>
              <a:rPr sz="1750" spc="-10" dirty="0">
                <a:solidFill>
                  <a:srgbClr val="4B4B4B"/>
                </a:solidFill>
                <a:latin typeface="Cambria"/>
                <a:cs typeface="Cambria"/>
              </a:rPr>
              <a:t>CICIDS2017</a:t>
            </a:r>
            <a:endParaRPr sz="1750">
              <a:latin typeface="Cambria"/>
              <a:cs typeface="Cambria"/>
            </a:endParaRPr>
          </a:p>
          <a:p>
            <a:pPr marL="12065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85" dirty="0">
                <a:solidFill>
                  <a:srgbClr val="4B4B4B"/>
                </a:solidFill>
                <a:latin typeface="Cambria"/>
                <a:cs typeface="Cambria"/>
              </a:rPr>
              <a:t>Benchmark </a:t>
            </a:r>
            <a:r>
              <a:rPr sz="1400" spc="40" dirty="0">
                <a:solidFill>
                  <a:srgbClr val="4B4B4B"/>
                </a:solidFill>
                <a:latin typeface="Cambria"/>
                <a:cs typeface="Cambria"/>
              </a:rPr>
              <a:t>dataset 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40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evaluation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074" y="6886574"/>
            <a:ext cx="10229850" cy="685800"/>
            <a:chOff x="600074" y="6886574"/>
            <a:chExt cx="10229850" cy="685800"/>
          </a:xfrm>
        </p:grpSpPr>
        <p:sp>
          <p:nvSpPr>
            <p:cNvPr id="23" name="object 23"/>
            <p:cNvSpPr/>
            <p:nvPr/>
          </p:nvSpPr>
          <p:spPr>
            <a:xfrm>
              <a:off x="600074" y="6886574"/>
              <a:ext cx="10229850" cy="685800"/>
            </a:xfrm>
            <a:custGeom>
              <a:avLst/>
              <a:gdLst/>
              <a:ahLst/>
              <a:cxnLst/>
              <a:rect l="l" t="t" r="r" b="b"/>
              <a:pathLst>
                <a:path w="10229850" h="685800">
                  <a:moveTo>
                    <a:pt x="10173781" y="685799"/>
                  </a:moveTo>
                  <a:lnTo>
                    <a:pt x="56067" y="685799"/>
                  </a:lnTo>
                  <a:lnTo>
                    <a:pt x="52165" y="685414"/>
                  </a:lnTo>
                  <a:lnTo>
                    <a:pt x="14789" y="665437"/>
                  </a:lnTo>
                  <a:lnTo>
                    <a:pt x="0" y="629732"/>
                  </a:lnTo>
                  <a:lnTo>
                    <a:pt x="0" y="6257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10173781" y="0"/>
                  </a:lnTo>
                  <a:lnTo>
                    <a:pt x="10209485" y="14788"/>
                  </a:lnTo>
                  <a:lnTo>
                    <a:pt x="10229464" y="52164"/>
                  </a:lnTo>
                  <a:lnTo>
                    <a:pt x="10229849" y="56067"/>
                  </a:lnTo>
                  <a:lnTo>
                    <a:pt x="10229849" y="629732"/>
                  </a:lnTo>
                  <a:lnTo>
                    <a:pt x="10215058" y="665437"/>
                  </a:lnTo>
                  <a:lnTo>
                    <a:pt x="10177682" y="685414"/>
                  </a:lnTo>
                  <a:lnTo>
                    <a:pt x="10173781" y="685799"/>
                  </a:lnTo>
                  <a:close/>
                </a:path>
              </a:pathLst>
            </a:custGeom>
            <a:solidFill>
              <a:srgbClr val="E7E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671" y="7135415"/>
              <a:ext cx="150018" cy="15001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87374" y="6089014"/>
            <a:ext cx="9502775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885">
              <a:lnSpc>
                <a:spcPct val="134300"/>
              </a:lnSpc>
              <a:spcBef>
                <a:spcPts val="10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Key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topics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covered: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Machine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learning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in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cybersecurity,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unsupervised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learning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paradigms,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intrusion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detection,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dataset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specifics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(CICIDS2017).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350">
              <a:latin typeface="Cambria"/>
              <a:cs typeface="Cambria"/>
            </a:endParaRPr>
          </a:p>
          <a:p>
            <a:pPr marL="614045">
              <a:lnSpc>
                <a:spcPct val="100000"/>
              </a:lnSpc>
            </a:pPr>
            <a:r>
              <a:rPr sz="1350" spc="65" dirty="0">
                <a:latin typeface="Cambria"/>
                <a:cs typeface="Cambria"/>
              </a:rPr>
              <a:t>Research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60" dirty="0">
                <a:latin typeface="Cambria"/>
                <a:cs typeface="Cambria"/>
              </a:rPr>
              <a:t>Direction: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70" dirty="0">
                <a:latin typeface="Cambria"/>
                <a:cs typeface="Cambria"/>
              </a:rPr>
              <a:t>Using</a:t>
            </a:r>
            <a:r>
              <a:rPr sz="1350" spc="80" dirty="0">
                <a:latin typeface="Cambria"/>
                <a:cs typeface="Cambria"/>
              </a:rPr>
              <a:t> </a:t>
            </a:r>
            <a:r>
              <a:rPr sz="1350" spc="70" dirty="0">
                <a:latin typeface="Cambria"/>
                <a:cs typeface="Cambria"/>
              </a:rPr>
              <a:t>unsupervised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60" dirty="0">
                <a:latin typeface="Cambria"/>
                <a:cs typeface="Cambria"/>
              </a:rPr>
              <a:t>clustering</a:t>
            </a:r>
            <a:r>
              <a:rPr sz="1350" spc="80" dirty="0">
                <a:latin typeface="Cambria"/>
                <a:cs typeface="Cambria"/>
              </a:rPr>
              <a:t> </a:t>
            </a:r>
            <a:r>
              <a:rPr sz="1350" dirty="0">
                <a:latin typeface="Cambria"/>
                <a:cs typeface="Cambria"/>
              </a:rPr>
              <a:t>to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60" dirty="0">
                <a:latin typeface="Cambria"/>
                <a:cs typeface="Cambria"/>
              </a:rPr>
              <a:t>discover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85" dirty="0">
                <a:latin typeface="Cambria"/>
                <a:cs typeface="Cambria"/>
              </a:rPr>
              <a:t>meaningful</a:t>
            </a:r>
            <a:r>
              <a:rPr sz="1350" spc="80" dirty="0">
                <a:latin typeface="Cambria"/>
                <a:cs typeface="Cambria"/>
              </a:rPr>
              <a:t> </a:t>
            </a:r>
            <a:r>
              <a:rPr sz="1350" spc="55" dirty="0">
                <a:latin typeface="Cambria"/>
                <a:cs typeface="Cambria"/>
              </a:rPr>
              <a:t>patterns</a:t>
            </a:r>
            <a:r>
              <a:rPr sz="1350" spc="75" dirty="0">
                <a:latin typeface="Cambria"/>
                <a:cs typeface="Cambria"/>
              </a:rPr>
              <a:t> within</a:t>
            </a:r>
            <a:r>
              <a:rPr sz="1350" spc="80" dirty="0">
                <a:latin typeface="Cambria"/>
                <a:cs typeface="Cambria"/>
              </a:rPr>
              <a:t> </a:t>
            </a:r>
            <a:r>
              <a:rPr sz="1350" spc="70" dirty="0">
                <a:latin typeface="Cambria"/>
                <a:cs typeface="Cambria"/>
              </a:rPr>
              <a:t>network</a:t>
            </a:r>
            <a:r>
              <a:rPr sz="1350" spc="75" dirty="0">
                <a:latin typeface="Cambria"/>
                <a:cs typeface="Cambria"/>
              </a:rPr>
              <a:t> </a:t>
            </a:r>
            <a:r>
              <a:rPr sz="1350" spc="50" dirty="0">
                <a:latin typeface="Cambria"/>
                <a:cs typeface="Cambria"/>
              </a:rPr>
              <a:t>traffic.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26" name="object 26">
            <a:hlinkClick r:id="rId11"/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80244" y="7538465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705725"/>
          </a:xfrm>
          <a:custGeom>
            <a:avLst/>
            <a:gdLst/>
            <a:ahLst/>
            <a:cxnLst/>
            <a:rect l="l" t="t" r="r" b="b"/>
            <a:pathLst>
              <a:path w="11430000" h="7705725">
                <a:moveTo>
                  <a:pt x="11429999" y="7705724"/>
                </a:moveTo>
                <a:lnTo>
                  <a:pt x="0" y="77057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705724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170" dirty="0"/>
              <a:t>Problem</a:t>
            </a:r>
            <a:r>
              <a:rPr spc="15" dirty="0"/>
              <a:t> </a:t>
            </a:r>
            <a:r>
              <a:rPr spc="145" dirty="0"/>
              <a:t>Statement</a:t>
            </a:r>
            <a:r>
              <a:rPr spc="15" dirty="0"/>
              <a:t> </a:t>
            </a:r>
            <a:r>
              <a:rPr dirty="0"/>
              <a:t>—</a:t>
            </a:r>
            <a:r>
              <a:rPr spc="15" dirty="0"/>
              <a:t> </a:t>
            </a:r>
            <a:r>
              <a:rPr spc="210" dirty="0"/>
              <a:t>From</a:t>
            </a:r>
            <a:r>
              <a:rPr spc="15" dirty="0"/>
              <a:t> </a:t>
            </a:r>
            <a:r>
              <a:rPr spc="165" dirty="0"/>
              <a:t>Volume</a:t>
            </a:r>
            <a:r>
              <a:rPr spc="15" dirty="0"/>
              <a:t> </a:t>
            </a:r>
            <a:r>
              <a:rPr spc="105" dirty="0"/>
              <a:t>to</a:t>
            </a:r>
            <a:r>
              <a:rPr spc="15" dirty="0"/>
              <a:t> </a:t>
            </a:r>
            <a:r>
              <a:rPr spc="145" dirty="0"/>
              <a:t>Actionable </a:t>
            </a:r>
            <a:r>
              <a:rPr spc="175" dirty="0"/>
              <a:t>Groups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36837" y="1947636"/>
            <a:ext cx="1602740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750" spc="75" dirty="0">
                <a:solidFill>
                  <a:srgbClr val="4B4B4B"/>
                </a:solidFill>
                <a:latin typeface="Cambria"/>
                <a:cs typeface="Cambria"/>
              </a:rPr>
              <a:t>Massive</a:t>
            </a:r>
            <a:r>
              <a:rPr sz="1750" spc="1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endParaRPr sz="1750">
              <a:latin typeface="Cambria"/>
              <a:cs typeface="Cambria"/>
            </a:endParaRPr>
          </a:p>
          <a:p>
            <a:pPr marL="149860" marR="147320" algn="ctr">
              <a:lnSpc>
                <a:spcPct val="101400"/>
              </a:lnSpc>
              <a:spcBef>
                <a:spcPts val="705"/>
              </a:spcBef>
            </a:pPr>
            <a:r>
              <a:rPr sz="1400" spc="90" dirty="0">
                <a:solidFill>
                  <a:srgbClr val="4B4B4B"/>
                </a:solidFill>
                <a:latin typeface="Cambria"/>
                <a:cs typeface="Cambria"/>
              </a:rPr>
              <a:t>High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solidFill>
                  <a:srgbClr val="4B4B4B"/>
                </a:solidFill>
                <a:latin typeface="Cambria"/>
                <a:cs typeface="Cambria"/>
              </a:rPr>
              <a:t>volume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of </a:t>
            </a: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network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flows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72175" y="1887389"/>
            <a:ext cx="1771014" cy="10985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72720" marR="160655" algn="ctr">
              <a:lnSpc>
                <a:spcPct val="103299"/>
              </a:lnSpc>
              <a:spcBef>
                <a:spcPts val="20"/>
              </a:spcBef>
            </a:pPr>
            <a:r>
              <a:rPr sz="1750" spc="60" dirty="0">
                <a:solidFill>
                  <a:srgbClr val="4B4B4B"/>
                </a:solidFill>
                <a:latin typeface="Cambria"/>
                <a:cs typeface="Cambria"/>
              </a:rPr>
              <a:t>Unsupervised </a:t>
            </a:r>
            <a:r>
              <a:rPr sz="17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endParaRPr sz="1750">
              <a:latin typeface="Cambria"/>
              <a:cs typeface="Cambria"/>
            </a:endParaRPr>
          </a:p>
          <a:p>
            <a:pPr marL="12700" marR="5080" algn="ctr">
              <a:lnSpc>
                <a:spcPct val="106000"/>
              </a:lnSpc>
              <a:spcBef>
                <a:spcPts val="630"/>
              </a:spcBef>
            </a:pP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Automated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grouping 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of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4B4B4B"/>
                </a:solidFill>
                <a:latin typeface="Cambria"/>
                <a:cs typeface="Cambria"/>
              </a:rPr>
              <a:t>flows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143" y="3060191"/>
            <a:ext cx="9900285" cy="2362200"/>
            <a:chOff x="771143" y="3060191"/>
            <a:chExt cx="9900285" cy="2362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0423" y="3060191"/>
              <a:ext cx="838199" cy="11155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1311" y="4309871"/>
              <a:ext cx="838199" cy="11125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343" y="3060191"/>
              <a:ext cx="838199" cy="11155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9" y="4309871"/>
              <a:ext cx="835151" cy="11125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143" y="3523487"/>
              <a:ext cx="9899903" cy="1447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143" y="3730751"/>
              <a:ext cx="9899903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1941" y="3322488"/>
              <a:ext cx="397981" cy="41410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606940" y="3284103"/>
            <a:ext cx="3933825" cy="1898650"/>
            <a:chOff x="4606940" y="3284103"/>
            <a:chExt cx="3933825" cy="1898650"/>
          </a:xfrm>
        </p:grpSpPr>
        <p:sp>
          <p:nvSpPr>
            <p:cNvPr id="15" name="object 15"/>
            <p:cNvSpPr/>
            <p:nvPr/>
          </p:nvSpPr>
          <p:spPr>
            <a:xfrm>
              <a:off x="4615724" y="4777216"/>
              <a:ext cx="391795" cy="396875"/>
            </a:xfrm>
            <a:custGeom>
              <a:avLst/>
              <a:gdLst/>
              <a:ahLst/>
              <a:cxnLst/>
              <a:rect l="l" t="t" r="r" b="b"/>
              <a:pathLst>
                <a:path w="391795" h="396875">
                  <a:moveTo>
                    <a:pt x="209704" y="12268"/>
                  </a:moveTo>
                  <a:lnTo>
                    <a:pt x="169051" y="1513"/>
                  </a:lnTo>
                  <a:lnTo>
                    <a:pt x="142710" y="0"/>
                  </a:lnTo>
                  <a:lnTo>
                    <a:pt x="134686" y="623"/>
                  </a:lnTo>
                  <a:lnTo>
                    <a:pt x="127131" y="1485"/>
                  </a:lnTo>
                  <a:lnTo>
                    <a:pt x="120045" y="2586"/>
                  </a:lnTo>
                </a:path>
                <a:path w="391795" h="396875">
                  <a:moveTo>
                    <a:pt x="100150" y="288501"/>
                  </a:moveTo>
                  <a:lnTo>
                    <a:pt x="142515" y="297106"/>
                  </a:lnTo>
                  <a:lnTo>
                    <a:pt x="148032" y="297201"/>
                  </a:lnTo>
                  <a:lnTo>
                    <a:pt x="154475" y="297065"/>
                  </a:lnTo>
                  <a:lnTo>
                    <a:pt x="194008" y="290556"/>
                  </a:lnTo>
                  <a:lnTo>
                    <a:pt x="204063" y="287282"/>
                  </a:lnTo>
                  <a:lnTo>
                    <a:pt x="213658" y="283595"/>
                  </a:lnTo>
                </a:path>
                <a:path w="391795" h="396875">
                  <a:moveTo>
                    <a:pt x="253159" y="256181"/>
                  </a:moveTo>
                  <a:lnTo>
                    <a:pt x="276447" y="227972"/>
                  </a:lnTo>
                  <a:lnTo>
                    <a:pt x="279731" y="222808"/>
                  </a:lnTo>
                  <a:lnTo>
                    <a:pt x="282684" y="217460"/>
                  </a:lnTo>
                  <a:lnTo>
                    <a:pt x="285305" y="211930"/>
                  </a:lnTo>
                  <a:lnTo>
                    <a:pt x="287926" y="206400"/>
                  </a:lnTo>
                  <a:lnTo>
                    <a:pt x="290195" y="200728"/>
                  </a:lnTo>
                  <a:lnTo>
                    <a:pt x="292113" y="194917"/>
                  </a:lnTo>
                  <a:lnTo>
                    <a:pt x="294031" y="189105"/>
                  </a:lnTo>
                  <a:lnTo>
                    <a:pt x="299201" y="159030"/>
                  </a:lnTo>
                  <a:lnTo>
                    <a:pt x="299636" y="152925"/>
                  </a:lnTo>
                  <a:lnTo>
                    <a:pt x="294763" y="110540"/>
                  </a:lnTo>
                  <a:lnTo>
                    <a:pt x="286463" y="87556"/>
                  </a:lnTo>
                  <a:lnTo>
                    <a:pt x="283946" y="81978"/>
                  </a:lnTo>
                  <a:lnTo>
                    <a:pt x="281093" y="76576"/>
                  </a:lnTo>
                  <a:lnTo>
                    <a:pt x="277906" y="71351"/>
                  </a:lnTo>
                  <a:lnTo>
                    <a:pt x="274719" y="66126"/>
                  </a:lnTo>
                  <a:lnTo>
                    <a:pt x="271222" y="61118"/>
                  </a:lnTo>
                  <a:lnTo>
                    <a:pt x="267414" y="56327"/>
                  </a:lnTo>
                  <a:lnTo>
                    <a:pt x="263607" y="51536"/>
                  </a:lnTo>
                  <a:lnTo>
                    <a:pt x="259518" y="46998"/>
                  </a:lnTo>
                  <a:lnTo>
                    <a:pt x="255148" y="42713"/>
                  </a:lnTo>
                  <a:lnTo>
                    <a:pt x="250777" y="38429"/>
                  </a:lnTo>
                  <a:lnTo>
                    <a:pt x="215321" y="14698"/>
                  </a:lnTo>
                  <a:lnTo>
                    <a:pt x="209694" y="12291"/>
                  </a:lnTo>
                </a:path>
                <a:path w="391795" h="396875">
                  <a:moveTo>
                    <a:pt x="251016" y="258044"/>
                  </a:moveTo>
                  <a:lnTo>
                    <a:pt x="270193" y="237030"/>
                  </a:lnTo>
                </a:path>
                <a:path w="391795" h="396875">
                  <a:moveTo>
                    <a:pt x="252922" y="257158"/>
                  </a:moveTo>
                  <a:lnTo>
                    <a:pt x="391534" y="396527"/>
                  </a:lnTo>
                </a:path>
                <a:path w="391795" h="396875">
                  <a:moveTo>
                    <a:pt x="119999" y="2354"/>
                  </a:moveTo>
                  <a:lnTo>
                    <a:pt x="81778" y="15189"/>
                  </a:lnTo>
                  <a:lnTo>
                    <a:pt x="74748" y="19218"/>
                  </a:lnTo>
                  <a:lnTo>
                    <a:pt x="67718" y="23246"/>
                  </a:lnTo>
                  <a:lnTo>
                    <a:pt x="37318" y="49731"/>
                  </a:lnTo>
                  <a:lnTo>
                    <a:pt x="31955" y="55805"/>
                  </a:lnTo>
                  <a:lnTo>
                    <a:pt x="11681" y="90655"/>
                  </a:lnTo>
                  <a:lnTo>
                    <a:pt x="8555" y="98130"/>
                  </a:lnTo>
                  <a:lnTo>
                    <a:pt x="6059" y="105810"/>
                  </a:lnTo>
                  <a:lnTo>
                    <a:pt x="4192" y="113695"/>
                  </a:lnTo>
                  <a:lnTo>
                    <a:pt x="2326" y="121580"/>
                  </a:lnTo>
                  <a:lnTo>
                    <a:pt x="1114" y="129564"/>
                  </a:lnTo>
                  <a:lnTo>
                    <a:pt x="557" y="137648"/>
                  </a:lnTo>
                  <a:lnTo>
                    <a:pt x="0" y="145731"/>
                  </a:lnTo>
                  <a:lnTo>
                    <a:pt x="5127" y="185722"/>
                  </a:lnTo>
                  <a:lnTo>
                    <a:pt x="20428" y="223025"/>
                  </a:lnTo>
                  <a:lnTo>
                    <a:pt x="45419" y="254739"/>
                  </a:lnTo>
                  <a:lnTo>
                    <a:pt x="78110" y="278337"/>
                  </a:lnTo>
                  <a:lnTo>
                    <a:pt x="92641" y="285420"/>
                  </a:lnTo>
                  <a:lnTo>
                    <a:pt x="100304" y="288051"/>
                  </a:lnTo>
                </a:path>
                <a:path w="391795" h="396875">
                  <a:moveTo>
                    <a:pt x="213656" y="283592"/>
                  </a:moveTo>
                  <a:lnTo>
                    <a:pt x="223765" y="278327"/>
                  </a:lnTo>
                  <a:lnTo>
                    <a:pt x="233377" y="272331"/>
                  </a:lnTo>
                  <a:lnTo>
                    <a:pt x="242492" y="265604"/>
                  </a:lnTo>
                  <a:lnTo>
                    <a:pt x="251111" y="258146"/>
                  </a:lnTo>
                </a:path>
              </a:pathLst>
            </a:custGeom>
            <a:ln w="17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4934" y="3284103"/>
              <a:ext cx="414226" cy="41218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134485" y="5003113"/>
              <a:ext cx="383540" cy="146050"/>
            </a:xfrm>
            <a:custGeom>
              <a:avLst/>
              <a:gdLst/>
              <a:ahLst/>
              <a:cxnLst/>
              <a:rect l="l" t="t" r="r" b="b"/>
              <a:pathLst>
                <a:path w="383540" h="146050">
                  <a:moveTo>
                    <a:pt x="382944" y="134848"/>
                  </a:moveTo>
                  <a:lnTo>
                    <a:pt x="345980" y="145292"/>
                  </a:lnTo>
                  <a:lnTo>
                    <a:pt x="331421" y="145485"/>
                  </a:lnTo>
                </a:path>
                <a:path w="383540" h="146050">
                  <a:moveTo>
                    <a:pt x="55565" y="145387"/>
                  </a:moveTo>
                  <a:lnTo>
                    <a:pt x="43343" y="145234"/>
                  </a:lnTo>
                </a:path>
                <a:path w="383540" h="146050">
                  <a:moveTo>
                    <a:pt x="198678" y="24074"/>
                  </a:moveTo>
                  <a:lnTo>
                    <a:pt x="216422" y="4039"/>
                  </a:lnTo>
                  <a:lnTo>
                    <a:pt x="216460" y="0"/>
                  </a:lnTo>
                </a:path>
                <a:path w="383540" h="146050">
                  <a:moveTo>
                    <a:pt x="43343" y="145234"/>
                  </a:moveTo>
                  <a:lnTo>
                    <a:pt x="7672" y="128630"/>
                  </a:lnTo>
                  <a:lnTo>
                    <a:pt x="0" y="102590"/>
                  </a:lnTo>
                  <a:lnTo>
                    <a:pt x="683" y="95680"/>
                  </a:lnTo>
                  <a:lnTo>
                    <a:pt x="1890" y="90537"/>
                  </a:lnTo>
                  <a:lnTo>
                    <a:pt x="3460" y="86616"/>
                  </a:lnTo>
                  <a:lnTo>
                    <a:pt x="6176" y="81225"/>
                  </a:lnTo>
                  <a:lnTo>
                    <a:pt x="11265" y="72238"/>
                  </a:lnTo>
                  <a:lnTo>
                    <a:pt x="19952" y="57528"/>
                  </a:lnTo>
                </a:path>
              </a:pathLst>
            </a:custGeom>
            <a:ln w="17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88239" y="4793534"/>
              <a:ext cx="101323" cy="1258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90050" y="5016145"/>
              <a:ext cx="330200" cy="132715"/>
            </a:xfrm>
            <a:custGeom>
              <a:avLst/>
              <a:gdLst/>
              <a:ahLst/>
              <a:cxnLst/>
              <a:rect l="l" t="t" r="r" b="b"/>
              <a:pathLst>
                <a:path w="330200" h="132714">
                  <a:moveTo>
                    <a:pt x="125931" y="56399"/>
                  </a:moveTo>
                  <a:lnTo>
                    <a:pt x="124405" y="58883"/>
                  </a:lnTo>
                  <a:lnTo>
                    <a:pt x="123452" y="61569"/>
                  </a:lnTo>
                  <a:lnTo>
                    <a:pt x="123072" y="64459"/>
                  </a:lnTo>
                  <a:lnTo>
                    <a:pt x="122692" y="67349"/>
                  </a:lnTo>
                  <a:lnTo>
                    <a:pt x="122919" y="70191"/>
                  </a:lnTo>
                  <a:lnTo>
                    <a:pt x="132018" y="84426"/>
                  </a:lnTo>
                  <a:lnTo>
                    <a:pt x="134655" y="85669"/>
                  </a:lnTo>
                </a:path>
                <a:path w="330200" h="132714">
                  <a:moveTo>
                    <a:pt x="125671" y="56233"/>
                  </a:moveTo>
                  <a:lnTo>
                    <a:pt x="137726" y="47661"/>
                  </a:lnTo>
                  <a:lnTo>
                    <a:pt x="140209" y="47054"/>
                  </a:lnTo>
                  <a:lnTo>
                    <a:pt x="152377" y="49699"/>
                  </a:lnTo>
                  <a:lnTo>
                    <a:pt x="154600" y="50960"/>
                  </a:lnTo>
                  <a:lnTo>
                    <a:pt x="156511" y="52588"/>
                  </a:lnTo>
                  <a:lnTo>
                    <a:pt x="158111" y="54581"/>
                  </a:lnTo>
                  <a:lnTo>
                    <a:pt x="159710" y="56574"/>
                  </a:lnTo>
                  <a:lnTo>
                    <a:pt x="160886" y="58791"/>
                  </a:lnTo>
                  <a:lnTo>
                    <a:pt x="161637" y="61234"/>
                  </a:lnTo>
                  <a:lnTo>
                    <a:pt x="162387" y="63677"/>
                  </a:lnTo>
                  <a:lnTo>
                    <a:pt x="162661" y="66172"/>
                  </a:lnTo>
                  <a:lnTo>
                    <a:pt x="162457" y="68720"/>
                  </a:lnTo>
                  <a:lnTo>
                    <a:pt x="162253" y="71267"/>
                  </a:lnTo>
                  <a:lnTo>
                    <a:pt x="161586" y="73687"/>
                  </a:lnTo>
                  <a:lnTo>
                    <a:pt x="160456" y="75979"/>
                  </a:lnTo>
                  <a:lnTo>
                    <a:pt x="159326" y="78271"/>
                  </a:lnTo>
                  <a:lnTo>
                    <a:pt x="157813" y="80274"/>
                  </a:lnTo>
                  <a:lnTo>
                    <a:pt x="155916" y="81987"/>
                  </a:lnTo>
                  <a:lnTo>
                    <a:pt x="154020" y="83700"/>
                  </a:lnTo>
                  <a:lnTo>
                    <a:pt x="151874" y="85002"/>
                  </a:lnTo>
                  <a:lnTo>
                    <a:pt x="149479" y="85894"/>
                  </a:lnTo>
                  <a:lnTo>
                    <a:pt x="147084" y="86786"/>
                  </a:lnTo>
                  <a:lnTo>
                    <a:pt x="144609" y="87205"/>
                  </a:lnTo>
                  <a:lnTo>
                    <a:pt x="142054" y="87149"/>
                  </a:lnTo>
                  <a:lnTo>
                    <a:pt x="139499" y="87094"/>
                  </a:lnTo>
                  <a:lnTo>
                    <a:pt x="137045" y="86569"/>
                  </a:lnTo>
                  <a:lnTo>
                    <a:pt x="134691" y="85575"/>
                  </a:lnTo>
                </a:path>
                <a:path w="330200" h="132714">
                  <a:moveTo>
                    <a:pt x="327379" y="121815"/>
                  </a:moveTo>
                  <a:lnTo>
                    <a:pt x="329587" y="120011"/>
                  </a:lnTo>
                </a:path>
                <a:path w="330200" h="132714">
                  <a:moveTo>
                    <a:pt x="143112" y="11010"/>
                  </a:moveTo>
                  <a:lnTo>
                    <a:pt x="137825" y="11099"/>
                  </a:lnTo>
                  <a:lnTo>
                    <a:pt x="133323" y="9264"/>
                  </a:lnTo>
                  <a:lnTo>
                    <a:pt x="129605" y="5505"/>
                  </a:lnTo>
                </a:path>
                <a:path w="330200" h="132714">
                  <a:moveTo>
                    <a:pt x="129627" y="5483"/>
                  </a:moveTo>
                  <a:lnTo>
                    <a:pt x="128990" y="4776"/>
                  </a:lnTo>
                  <a:lnTo>
                    <a:pt x="128399" y="4032"/>
                  </a:lnTo>
                  <a:lnTo>
                    <a:pt x="127856" y="3251"/>
                  </a:lnTo>
                </a:path>
                <a:path w="330200" h="132714">
                  <a:moveTo>
                    <a:pt x="127857" y="3250"/>
                  </a:moveTo>
                  <a:lnTo>
                    <a:pt x="127163" y="2221"/>
                  </a:lnTo>
                  <a:lnTo>
                    <a:pt x="126568" y="1138"/>
                  </a:lnTo>
                  <a:lnTo>
                    <a:pt x="126073" y="0"/>
                  </a:lnTo>
                </a:path>
                <a:path w="330200" h="132714">
                  <a:moveTo>
                    <a:pt x="275856" y="132452"/>
                  </a:moveTo>
                  <a:lnTo>
                    <a:pt x="0" y="132354"/>
                  </a:lnTo>
                </a:path>
              </a:pathLst>
            </a:custGeom>
            <a:ln w="17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45650" y="4816200"/>
              <a:ext cx="394623" cy="32875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912702" y="5400188"/>
            <a:ext cx="1797685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750" spc="90" dirty="0">
                <a:solidFill>
                  <a:srgbClr val="4B4B4B"/>
                </a:solidFill>
                <a:latin typeface="Cambria"/>
                <a:cs typeface="Cambria"/>
              </a:rPr>
              <a:t>Hidden</a:t>
            </a:r>
            <a:r>
              <a:rPr sz="1750" spc="1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45" dirty="0">
                <a:solidFill>
                  <a:srgbClr val="4B4B4B"/>
                </a:solidFill>
                <a:latin typeface="Cambria"/>
                <a:cs typeface="Cambria"/>
              </a:rPr>
              <a:t>Patterns</a:t>
            </a:r>
            <a:endParaRPr sz="1750">
              <a:latin typeface="Cambria"/>
              <a:cs typeface="Cambria"/>
            </a:endParaRPr>
          </a:p>
          <a:p>
            <a:pPr marL="12065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Latent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structures</a:t>
            </a: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35" dirty="0">
                <a:solidFill>
                  <a:srgbClr val="4B4B4B"/>
                </a:solidFill>
                <a:latin typeface="Cambria"/>
                <a:cs typeface="Cambria"/>
              </a:rPr>
              <a:t>not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labelled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2799" y="5349778"/>
            <a:ext cx="1630680" cy="111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257175" algn="ctr">
              <a:lnSpc>
                <a:spcPct val="107000"/>
              </a:lnSpc>
              <a:spcBef>
                <a:spcPts val="100"/>
              </a:spcBef>
            </a:pPr>
            <a:r>
              <a:rPr sz="1750" spc="50" dirty="0">
                <a:solidFill>
                  <a:srgbClr val="4B4B4B"/>
                </a:solidFill>
                <a:latin typeface="Cambria"/>
                <a:cs typeface="Cambria"/>
              </a:rPr>
              <a:t>Suspicious </a:t>
            </a:r>
            <a:r>
              <a:rPr sz="1750" spc="75" dirty="0">
                <a:solidFill>
                  <a:srgbClr val="4B4B4B"/>
                </a:solidFill>
                <a:latin typeface="Cambria"/>
                <a:cs typeface="Cambria"/>
              </a:rPr>
              <a:t>Groups</a:t>
            </a:r>
            <a:endParaRPr sz="1750">
              <a:latin typeface="Cambria"/>
              <a:cs typeface="Cambria"/>
            </a:endParaRPr>
          </a:p>
          <a:p>
            <a:pPr marL="12700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Actionable</a:t>
            </a:r>
            <a:r>
              <a:rPr sz="1400" spc="9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4B4B4B"/>
                </a:solidFill>
                <a:latin typeface="Cambria"/>
                <a:cs typeface="Cambria"/>
              </a:rPr>
              <a:t>insights 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40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review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7374" y="6631939"/>
            <a:ext cx="988441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0">
              <a:lnSpc>
                <a:spcPct val="134300"/>
              </a:lnSpc>
              <a:spcBef>
                <a:spcPts val="100"/>
              </a:spcBef>
            </a:pP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Challenges: 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high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volume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of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flows,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heterogeneity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of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behaviour,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latent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structure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not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labelled,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impracticality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of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manual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inspection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at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45" dirty="0">
                <a:solidFill>
                  <a:srgbClr val="4B4B4B"/>
                </a:solidFill>
                <a:latin typeface="Cambria"/>
                <a:cs typeface="Cambria"/>
              </a:rPr>
              <a:t>scale.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24" name="object 24">
            <a:hlinkClick r:id="rId12"/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80244" y="7194041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Abstract</a:t>
            </a:r>
            <a:r>
              <a:rPr spc="5" dirty="0"/>
              <a:t> </a:t>
            </a:r>
            <a:r>
              <a:rPr dirty="0"/>
              <a:t>—</a:t>
            </a:r>
            <a:r>
              <a:rPr spc="10" dirty="0"/>
              <a:t> </a:t>
            </a:r>
            <a:r>
              <a:rPr spc="114" dirty="0"/>
              <a:t>Project</a:t>
            </a:r>
            <a:r>
              <a:rPr spc="10" dirty="0"/>
              <a:t> </a:t>
            </a:r>
            <a:r>
              <a:rPr spc="130" dirty="0"/>
              <a:t>Pipeline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6591" y="1652015"/>
            <a:ext cx="9577070" cy="2075814"/>
            <a:chOff x="926591" y="1652015"/>
            <a:chExt cx="9577070" cy="20758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6968" y="1652015"/>
              <a:ext cx="1996439" cy="20756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4639" y="1652015"/>
              <a:ext cx="2212847" cy="2057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3167" y="1652015"/>
              <a:ext cx="2209799" cy="2057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01695" y="1652015"/>
              <a:ext cx="2209799" cy="2057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591" y="1652015"/>
              <a:ext cx="2313431" cy="20756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06690" y="2851856"/>
              <a:ext cx="104936" cy="802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17962" y="2457268"/>
              <a:ext cx="635" cy="406400"/>
            </a:xfrm>
            <a:custGeom>
              <a:avLst/>
              <a:gdLst/>
              <a:ahLst/>
              <a:cxnLst/>
              <a:rect l="l" t="t" r="r" b="b"/>
              <a:pathLst>
                <a:path w="634" h="406400">
                  <a:moveTo>
                    <a:pt x="0" y="0"/>
                  </a:moveTo>
                  <a:lnTo>
                    <a:pt x="54" y="405914"/>
                  </a:lnTo>
                </a:path>
              </a:pathLst>
            </a:custGeom>
            <a:ln w="22654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08503" y="2479296"/>
              <a:ext cx="952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64070" y="2523815"/>
              <a:ext cx="94993" cy="949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97975" y="2602265"/>
              <a:ext cx="92525" cy="925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00248" y="2665425"/>
              <a:ext cx="89657" cy="896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127" y="2725368"/>
              <a:ext cx="87433" cy="874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18574" y="2751540"/>
              <a:ext cx="87060" cy="8705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300299" y="2920708"/>
              <a:ext cx="429259" cy="635"/>
            </a:xfrm>
            <a:custGeom>
              <a:avLst/>
              <a:gdLst/>
              <a:ahLst/>
              <a:cxnLst/>
              <a:rect l="l" t="t" r="r" b="b"/>
              <a:pathLst>
                <a:path w="429259" h="635">
                  <a:moveTo>
                    <a:pt x="0" y="94"/>
                  </a:moveTo>
                  <a:lnTo>
                    <a:pt x="429136" y="0"/>
                  </a:lnTo>
                </a:path>
              </a:pathLst>
            </a:custGeom>
            <a:ln w="22654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45972" y="2497223"/>
              <a:ext cx="511809" cy="384175"/>
            </a:xfrm>
            <a:custGeom>
              <a:avLst/>
              <a:gdLst/>
              <a:ahLst/>
              <a:cxnLst/>
              <a:rect l="l" t="t" r="r" b="b"/>
              <a:pathLst>
                <a:path w="511809" h="384175">
                  <a:moveTo>
                    <a:pt x="348436" y="126539"/>
                  </a:moveTo>
                  <a:lnTo>
                    <a:pt x="383578" y="152492"/>
                  </a:lnTo>
                  <a:lnTo>
                    <a:pt x="398076" y="155850"/>
                  </a:lnTo>
                  <a:lnTo>
                    <a:pt x="405222" y="155642"/>
                  </a:lnTo>
                  <a:lnTo>
                    <a:pt x="444417" y="140603"/>
                  </a:lnTo>
                  <a:lnTo>
                    <a:pt x="464264" y="104130"/>
                  </a:lnTo>
                  <a:lnTo>
                    <a:pt x="464782" y="97337"/>
                  </a:lnTo>
                  <a:lnTo>
                    <a:pt x="464734" y="90336"/>
                  </a:lnTo>
                  <a:lnTo>
                    <a:pt x="446211" y="50270"/>
                  </a:lnTo>
                  <a:lnTo>
                    <a:pt x="406779" y="32444"/>
                  </a:lnTo>
                  <a:lnTo>
                    <a:pt x="398791" y="31902"/>
                  </a:lnTo>
                  <a:lnTo>
                    <a:pt x="391705" y="33125"/>
                  </a:lnTo>
                  <a:lnTo>
                    <a:pt x="357086" y="52593"/>
                  </a:lnTo>
                </a:path>
                <a:path w="511809" h="384175">
                  <a:moveTo>
                    <a:pt x="182392" y="368551"/>
                  </a:moveTo>
                  <a:lnTo>
                    <a:pt x="148131" y="383569"/>
                  </a:lnTo>
                  <a:lnTo>
                    <a:pt x="140687" y="383457"/>
                  </a:lnTo>
                  <a:lnTo>
                    <a:pt x="127239" y="370499"/>
                  </a:lnTo>
                  <a:lnTo>
                    <a:pt x="126791" y="366559"/>
                  </a:lnTo>
                </a:path>
                <a:path w="511809" h="384175">
                  <a:moveTo>
                    <a:pt x="384727" y="369252"/>
                  </a:moveTo>
                  <a:lnTo>
                    <a:pt x="357966" y="383625"/>
                  </a:lnTo>
                  <a:lnTo>
                    <a:pt x="340176" y="383015"/>
                  </a:lnTo>
                  <a:lnTo>
                    <a:pt x="336070" y="381839"/>
                  </a:lnTo>
                  <a:lnTo>
                    <a:pt x="334072" y="380716"/>
                  </a:lnTo>
                  <a:lnTo>
                    <a:pt x="329449" y="376802"/>
                  </a:lnTo>
                </a:path>
                <a:path w="511809" h="384175">
                  <a:moveTo>
                    <a:pt x="45273" y="342886"/>
                  </a:moveTo>
                  <a:lnTo>
                    <a:pt x="42110" y="344198"/>
                  </a:lnTo>
                  <a:lnTo>
                    <a:pt x="37125" y="345102"/>
                  </a:lnTo>
                  <a:lnTo>
                    <a:pt x="28930" y="345640"/>
                  </a:lnTo>
                  <a:lnTo>
                    <a:pt x="16138" y="345854"/>
                  </a:lnTo>
                  <a:lnTo>
                    <a:pt x="11188" y="345034"/>
                  </a:lnTo>
                  <a:lnTo>
                    <a:pt x="7094" y="342722"/>
                  </a:lnTo>
                  <a:lnTo>
                    <a:pt x="5220" y="340968"/>
                  </a:lnTo>
                  <a:lnTo>
                    <a:pt x="2867" y="337864"/>
                  </a:lnTo>
                  <a:lnTo>
                    <a:pt x="1012" y="333788"/>
                  </a:lnTo>
                  <a:lnTo>
                    <a:pt x="0" y="327074"/>
                  </a:lnTo>
                </a:path>
                <a:path w="511809" h="384175">
                  <a:moveTo>
                    <a:pt x="511397" y="318807"/>
                  </a:moveTo>
                  <a:lnTo>
                    <a:pt x="477278" y="345847"/>
                  </a:lnTo>
                  <a:lnTo>
                    <a:pt x="471110" y="345053"/>
                  </a:lnTo>
                  <a:lnTo>
                    <a:pt x="467086" y="343552"/>
                  </a:lnTo>
                  <a:lnTo>
                    <a:pt x="465041" y="342164"/>
                  </a:lnTo>
                  <a:lnTo>
                    <a:pt x="463364" y="340395"/>
                  </a:lnTo>
                  <a:lnTo>
                    <a:pt x="461590" y="336805"/>
                  </a:lnTo>
                  <a:lnTo>
                    <a:pt x="460604" y="330350"/>
                  </a:lnTo>
                </a:path>
                <a:path w="511809" h="384175">
                  <a:moveTo>
                    <a:pt x="331958" y="76508"/>
                  </a:moveTo>
                  <a:lnTo>
                    <a:pt x="331958" y="81531"/>
                  </a:lnTo>
                  <a:lnTo>
                    <a:pt x="331468" y="86507"/>
                  </a:lnTo>
                  <a:lnTo>
                    <a:pt x="330488" y="91434"/>
                  </a:lnTo>
                  <a:lnTo>
                    <a:pt x="329508" y="96361"/>
                  </a:lnTo>
                  <a:lnTo>
                    <a:pt x="328057" y="101145"/>
                  </a:lnTo>
                  <a:lnTo>
                    <a:pt x="326134" y="105786"/>
                  </a:lnTo>
                  <a:lnTo>
                    <a:pt x="324212" y="110427"/>
                  </a:lnTo>
                  <a:lnTo>
                    <a:pt x="321855" y="114837"/>
                  </a:lnTo>
                  <a:lnTo>
                    <a:pt x="319064" y="119014"/>
                  </a:lnTo>
                  <a:lnTo>
                    <a:pt x="316273" y="123191"/>
                  </a:lnTo>
                  <a:lnTo>
                    <a:pt x="284728" y="147192"/>
                  </a:lnTo>
                  <a:lnTo>
                    <a:pt x="270376" y="151546"/>
                  </a:lnTo>
                  <a:lnTo>
                    <a:pt x="265449" y="152526"/>
                  </a:lnTo>
                  <a:lnTo>
                    <a:pt x="260474" y="153016"/>
                  </a:lnTo>
                  <a:lnTo>
                    <a:pt x="255450" y="153016"/>
                  </a:lnTo>
                  <a:lnTo>
                    <a:pt x="250426" y="153016"/>
                  </a:lnTo>
                  <a:lnTo>
                    <a:pt x="245451" y="152526"/>
                  </a:lnTo>
                  <a:lnTo>
                    <a:pt x="240524" y="151546"/>
                  </a:lnTo>
                  <a:lnTo>
                    <a:pt x="235597" y="150566"/>
                  </a:lnTo>
                  <a:lnTo>
                    <a:pt x="230813" y="149115"/>
                  </a:lnTo>
                  <a:lnTo>
                    <a:pt x="226172" y="147192"/>
                  </a:lnTo>
                  <a:lnTo>
                    <a:pt x="221530" y="145270"/>
                  </a:lnTo>
                  <a:lnTo>
                    <a:pt x="201350" y="130607"/>
                  </a:lnTo>
                  <a:lnTo>
                    <a:pt x="197798" y="127055"/>
                  </a:lnTo>
                  <a:lnTo>
                    <a:pt x="184766" y="105786"/>
                  </a:lnTo>
                  <a:lnTo>
                    <a:pt x="182843" y="101145"/>
                  </a:lnTo>
                  <a:lnTo>
                    <a:pt x="181392" y="96361"/>
                  </a:lnTo>
                  <a:lnTo>
                    <a:pt x="180412" y="91434"/>
                  </a:lnTo>
                  <a:lnTo>
                    <a:pt x="179432" y="86507"/>
                  </a:lnTo>
                  <a:lnTo>
                    <a:pt x="178942" y="81531"/>
                  </a:lnTo>
                  <a:lnTo>
                    <a:pt x="178942" y="76508"/>
                  </a:lnTo>
                  <a:lnTo>
                    <a:pt x="178942" y="71484"/>
                  </a:lnTo>
                  <a:lnTo>
                    <a:pt x="184766" y="47229"/>
                  </a:lnTo>
                  <a:lnTo>
                    <a:pt x="186688" y="42588"/>
                  </a:lnTo>
                  <a:lnTo>
                    <a:pt x="201350" y="22408"/>
                  </a:lnTo>
                  <a:lnTo>
                    <a:pt x="204903" y="18856"/>
                  </a:lnTo>
                  <a:lnTo>
                    <a:pt x="226172" y="5823"/>
                  </a:lnTo>
                  <a:lnTo>
                    <a:pt x="230813" y="3901"/>
                  </a:lnTo>
                  <a:lnTo>
                    <a:pt x="235597" y="2450"/>
                  </a:lnTo>
                  <a:lnTo>
                    <a:pt x="240524" y="1470"/>
                  </a:lnTo>
                  <a:lnTo>
                    <a:pt x="245451" y="490"/>
                  </a:lnTo>
                  <a:lnTo>
                    <a:pt x="250426" y="0"/>
                  </a:lnTo>
                  <a:lnTo>
                    <a:pt x="255450" y="0"/>
                  </a:lnTo>
                  <a:lnTo>
                    <a:pt x="260474" y="0"/>
                  </a:lnTo>
                  <a:lnTo>
                    <a:pt x="297956" y="12893"/>
                  </a:lnTo>
                  <a:lnTo>
                    <a:pt x="319064" y="34002"/>
                  </a:lnTo>
                  <a:lnTo>
                    <a:pt x="321855" y="38179"/>
                  </a:lnTo>
                  <a:lnTo>
                    <a:pt x="324212" y="42588"/>
                  </a:lnTo>
                  <a:lnTo>
                    <a:pt x="326134" y="47229"/>
                  </a:lnTo>
                  <a:lnTo>
                    <a:pt x="328057" y="51871"/>
                  </a:lnTo>
                  <a:lnTo>
                    <a:pt x="329508" y="56655"/>
                  </a:lnTo>
                  <a:lnTo>
                    <a:pt x="330488" y="61582"/>
                  </a:lnTo>
                  <a:lnTo>
                    <a:pt x="331468" y="66509"/>
                  </a:lnTo>
                  <a:lnTo>
                    <a:pt x="331958" y="71484"/>
                  </a:lnTo>
                  <a:lnTo>
                    <a:pt x="331958" y="76508"/>
                  </a:lnTo>
                  <a:close/>
                </a:path>
                <a:path w="511809" h="384175">
                  <a:moveTo>
                    <a:pt x="153512" y="51620"/>
                  </a:moveTo>
                  <a:lnTo>
                    <a:pt x="132424" y="37120"/>
                  </a:lnTo>
                  <a:lnTo>
                    <a:pt x="128445" y="35460"/>
                  </a:lnTo>
                  <a:lnTo>
                    <a:pt x="124338" y="34227"/>
                  </a:lnTo>
                  <a:lnTo>
                    <a:pt x="120102" y="33420"/>
                  </a:lnTo>
                  <a:lnTo>
                    <a:pt x="115867" y="32614"/>
                  </a:lnTo>
                  <a:lnTo>
                    <a:pt x="111594" y="32251"/>
                  </a:lnTo>
                  <a:lnTo>
                    <a:pt x="107283" y="32333"/>
                  </a:lnTo>
                  <a:lnTo>
                    <a:pt x="102973" y="32414"/>
                  </a:lnTo>
                  <a:lnTo>
                    <a:pt x="71285" y="44645"/>
                  </a:lnTo>
                  <a:lnTo>
                    <a:pt x="67828" y="47221"/>
                  </a:lnTo>
                  <a:lnTo>
                    <a:pt x="64672" y="50124"/>
                  </a:lnTo>
                  <a:lnTo>
                    <a:pt x="61817" y="53355"/>
                  </a:lnTo>
                  <a:lnTo>
                    <a:pt x="58963" y="56587"/>
                  </a:lnTo>
                  <a:lnTo>
                    <a:pt x="46111" y="92493"/>
                  </a:lnTo>
                  <a:lnTo>
                    <a:pt x="46117" y="96781"/>
                  </a:lnTo>
                  <a:lnTo>
                    <a:pt x="54422" y="125426"/>
                  </a:lnTo>
                  <a:lnTo>
                    <a:pt x="56561" y="129170"/>
                  </a:lnTo>
                  <a:lnTo>
                    <a:pt x="71415" y="144563"/>
                  </a:lnTo>
                  <a:lnTo>
                    <a:pt x="74879" y="147130"/>
                  </a:lnTo>
                  <a:lnTo>
                    <a:pt x="78571" y="149313"/>
                  </a:lnTo>
                  <a:lnTo>
                    <a:pt x="82489" y="151112"/>
                  </a:lnTo>
                  <a:lnTo>
                    <a:pt x="86407" y="152911"/>
                  </a:lnTo>
                  <a:lnTo>
                    <a:pt x="90468" y="154288"/>
                  </a:lnTo>
                  <a:lnTo>
                    <a:pt x="94672" y="155244"/>
                  </a:lnTo>
                  <a:lnTo>
                    <a:pt x="98877" y="156199"/>
                  </a:lnTo>
                  <a:lnTo>
                    <a:pt x="103134" y="156712"/>
                  </a:lnTo>
                  <a:lnTo>
                    <a:pt x="107445" y="156782"/>
                  </a:lnTo>
                  <a:lnTo>
                    <a:pt x="111756" y="156852"/>
                  </a:lnTo>
                  <a:lnTo>
                    <a:pt x="116028" y="156479"/>
                  </a:lnTo>
                  <a:lnTo>
                    <a:pt x="120261" y="155661"/>
                  </a:lnTo>
                  <a:lnTo>
                    <a:pt x="124494" y="154844"/>
                  </a:lnTo>
                  <a:lnTo>
                    <a:pt x="143855" y="145746"/>
                  </a:lnTo>
                  <a:lnTo>
                    <a:pt x="147401" y="143294"/>
                  </a:lnTo>
                  <a:lnTo>
                    <a:pt x="150657" y="140503"/>
                  </a:lnTo>
                  <a:lnTo>
                    <a:pt x="153624" y="137374"/>
                  </a:lnTo>
                  <a:lnTo>
                    <a:pt x="156590" y="134246"/>
                  </a:lnTo>
                  <a:lnTo>
                    <a:pt x="159203" y="130845"/>
                  </a:lnTo>
                  <a:lnTo>
                    <a:pt x="161463" y="127173"/>
                  </a:lnTo>
                </a:path>
                <a:path w="511809" h="384175">
                  <a:moveTo>
                    <a:pt x="328727" y="295727"/>
                  </a:moveTo>
                  <a:lnTo>
                    <a:pt x="329449" y="376802"/>
                  </a:lnTo>
                </a:path>
                <a:path w="511809" h="384175">
                  <a:moveTo>
                    <a:pt x="49965" y="276125"/>
                  </a:moveTo>
                  <a:lnTo>
                    <a:pt x="45273" y="342886"/>
                  </a:lnTo>
                </a:path>
                <a:path w="511809" h="384175">
                  <a:moveTo>
                    <a:pt x="354659" y="186276"/>
                  </a:moveTo>
                  <a:lnTo>
                    <a:pt x="374225" y="180516"/>
                  </a:lnTo>
                  <a:lnTo>
                    <a:pt x="395028" y="179163"/>
                  </a:lnTo>
                  <a:lnTo>
                    <a:pt x="415965" y="179820"/>
                  </a:lnTo>
                  <a:lnTo>
                    <a:pt x="435930" y="180095"/>
                  </a:lnTo>
                </a:path>
                <a:path w="511809" h="384175">
                  <a:moveTo>
                    <a:pt x="126791" y="366559"/>
                  </a:moveTo>
                  <a:lnTo>
                    <a:pt x="127294" y="266206"/>
                  </a:lnTo>
                </a:path>
                <a:path w="511809" h="384175">
                  <a:moveTo>
                    <a:pt x="127421" y="266219"/>
                  </a:moveTo>
                  <a:lnTo>
                    <a:pt x="140204" y="226325"/>
                  </a:lnTo>
                  <a:lnTo>
                    <a:pt x="147077" y="216436"/>
                  </a:lnTo>
                  <a:lnTo>
                    <a:pt x="150750" y="211639"/>
                  </a:lnTo>
                  <a:lnTo>
                    <a:pt x="184366" y="186622"/>
                  </a:lnTo>
                  <a:lnTo>
                    <a:pt x="190016" y="184481"/>
                  </a:lnTo>
                  <a:lnTo>
                    <a:pt x="195665" y="182340"/>
                  </a:lnTo>
                  <a:lnTo>
                    <a:pt x="201463" y="180737"/>
                  </a:lnTo>
                  <a:lnTo>
                    <a:pt x="207409" y="179671"/>
                  </a:lnTo>
                  <a:lnTo>
                    <a:pt x="213356" y="178606"/>
                  </a:lnTo>
                  <a:lnTo>
                    <a:pt x="219350" y="178096"/>
                  </a:lnTo>
                  <a:lnTo>
                    <a:pt x="225391" y="178143"/>
                  </a:lnTo>
                </a:path>
                <a:path w="511809" h="384175">
                  <a:moveTo>
                    <a:pt x="225391" y="178140"/>
                  </a:moveTo>
                  <a:lnTo>
                    <a:pt x="290331" y="178346"/>
                  </a:lnTo>
                </a:path>
                <a:path w="511809" h="384175">
                  <a:moveTo>
                    <a:pt x="290316" y="178670"/>
                  </a:moveTo>
                  <a:lnTo>
                    <a:pt x="296668" y="178964"/>
                  </a:lnTo>
                  <a:lnTo>
                    <a:pt x="302933" y="179861"/>
                  </a:lnTo>
                  <a:lnTo>
                    <a:pt x="309112" y="181359"/>
                  </a:lnTo>
                  <a:lnTo>
                    <a:pt x="315291" y="182857"/>
                  </a:lnTo>
                  <a:lnTo>
                    <a:pt x="321271" y="184930"/>
                  </a:lnTo>
                  <a:lnTo>
                    <a:pt x="327052" y="187578"/>
                  </a:lnTo>
                  <a:lnTo>
                    <a:pt x="332833" y="190225"/>
                  </a:lnTo>
                  <a:lnTo>
                    <a:pt x="338309" y="193399"/>
                  </a:lnTo>
                  <a:lnTo>
                    <a:pt x="343480" y="197099"/>
                  </a:lnTo>
                  <a:lnTo>
                    <a:pt x="348651" y="200799"/>
                  </a:lnTo>
                  <a:lnTo>
                    <a:pt x="369469" y="224548"/>
                  </a:lnTo>
                  <a:lnTo>
                    <a:pt x="372882" y="229913"/>
                  </a:lnTo>
                  <a:lnTo>
                    <a:pt x="385022" y="272280"/>
                  </a:lnTo>
                  <a:lnTo>
                    <a:pt x="384969" y="278638"/>
                  </a:lnTo>
                </a:path>
                <a:path w="511809" h="384175">
                  <a:moveTo>
                    <a:pt x="182270" y="297032"/>
                  </a:moveTo>
                  <a:lnTo>
                    <a:pt x="182392" y="368551"/>
                  </a:lnTo>
                </a:path>
                <a:path w="511809" h="384175">
                  <a:moveTo>
                    <a:pt x="0" y="327074"/>
                  </a:moveTo>
                  <a:lnTo>
                    <a:pt x="1147" y="246369"/>
                  </a:lnTo>
                </a:path>
                <a:path w="511809" h="384175">
                  <a:moveTo>
                    <a:pt x="941" y="246327"/>
                  </a:moveTo>
                  <a:lnTo>
                    <a:pt x="12348" y="218174"/>
                  </a:lnTo>
                  <a:lnTo>
                    <a:pt x="15100" y="213873"/>
                  </a:lnTo>
                  <a:lnTo>
                    <a:pt x="18222" y="209860"/>
                  </a:lnTo>
                  <a:lnTo>
                    <a:pt x="21715" y="206136"/>
                  </a:lnTo>
                  <a:lnTo>
                    <a:pt x="25207" y="202412"/>
                  </a:lnTo>
                  <a:lnTo>
                    <a:pt x="29012" y="199039"/>
                  </a:lnTo>
                  <a:lnTo>
                    <a:pt x="33127" y="196017"/>
                  </a:lnTo>
                  <a:lnTo>
                    <a:pt x="37243" y="192995"/>
                  </a:lnTo>
                  <a:lnTo>
                    <a:pt x="41601" y="190376"/>
                  </a:lnTo>
                  <a:lnTo>
                    <a:pt x="46200" y="188159"/>
                  </a:lnTo>
                  <a:lnTo>
                    <a:pt x="50799" y="185942"/>
                  </a:lnTo>
                  <a:lnTo>
                    <a:pt x="55563" y="184165"/>
                  </a:lnTo>
                  <a:lnTo>
                    <a:pt x="60491" y="182828"/>
                  </a:lnTo>
                  <a:lnTo>
                    <a:pt x="65418" y="181491"/>
                  </a:lnTo>
                  <a:lnTo>
                    <a:pt x="70427" y="180616"/>
                  </a:lnTo>
                  <a:lnTo>
                    <a:pt x="75516" y="180204"/>
                  </a:lnTo>
                  <a:lnTo>
                    <a:pt x="80605" y="179792"/>
                  </a:lnTo>
                  <a:lnTo>
                    <a:pt x="85689" y="179849"/>
                  </a:lnTo>
                  <a:lnTo>
                    <a:pt x="90767" y="180376"/>
                  </a:lnTo>
                </a:path>
                <a:path w="511809" h="384175">
                  <a:moveTo>
                    <a:pt x="384806" y="278637"/>
                  </a:moveTo>
                  <a:lnTo>
                    <a:pt x="384727" y="369252"/>
                  </a:lnTo>
                </a:path>
                <a:path w="511809" h="384175">
                  <a:moveTo>
                    <a:pt x="90848" y="179596"/>
                  </a:moveTo>
                  <a:lnTo>
                    <a:pt x="154403" y="184536"/>
                  </a:lnTo>
                </a:path>
                <a:path w="511809" h="384175">
                  <a:moveTo>
                    <a:pt x="435907" y="180446"/>
                  </a:moveTo>
                  <a:lnTo>
                    <a:pt x="440964" y="180787"/>
                  </a:lnTo>
                  <a:lnTo>
                    <a:pt x="445946" y="181596"/>
                  </a:lnTo>
                  <a:lnTo>
                    <a:pt x="450852" y="182872"/>
                  </a:lnTo>
                  <a:lnTo>
                    <a:pt x="455758" y="184149"/>
                  </a:lnTo>
                  <a:lnTo>
                    <a:pt x="460502" y="185870"/>
                  </a:lnTo>
                  <a:lnTo>
                    <a:pt x="465085" y="188037"/>
                  </a:lnTo>
                  <a:lnTo>
                    <a:pt x="469668" y="190204"/>
                  </a:lnTo>
                  <a:lnTo>
                    <a:pt x="474009" y="192778"/>
                  </a:lnTo>
                  <a:lnTo>
                    <a:pt x="478109" y="195760"/>
                  </a:lnTo>
                  <a:lnTo>
                    <a:pt x="482208" y="198742"/>
                  </a:lnTo>
                  <a:lnTo>
                    <a:pt x="485995" y="202079"/>
                  </a:lnTo>
                  <a:lnTo>
                    <a:pt x="489468" y="205771"/>
                  </a:lnTo>
                  <a:lnTo>
                    <a:pt x="492941" y="209464"/>
                  </a:lnTo>
                  <a:lnTo>
                    <a:pt x="496041" y="213447"/>
                  </a:lnTo>
                  <a:lnTo>
                    <a:pt x="498766" y="217721"/>
                  </a:lnTo>
                  <a:lnTo>
                    <a:pt x="501492" y="221995"/>
                  </a:lnTo>
                  <a:lnTo>
                    <a:pt x="503796" y="226486"/>
                  </a:lnTo>
                  <a:lnTo>
                    <a:pt x="505679" y="231193"/>
                  </a:lnTo>
                  <a:lnTo>
                    <a:pt x="507561" y="235899"/>
                  </a:lnTo>
                  <a:lnTo>
                    <a:pt x="508990" y="240740"/>
                  </a:lnTo>
                  <a:lnTo>
                    <a:pt x="509964" y="245715"/>
                  </a:lnTo>
                  <a:lnTo>
                    <a:pt x="510938" y="250689"/>
                  </a:lnTo>
                  <a:lnTo>
                    <a:pt x="511441" y="255711"/>
                  </a:lnTo>
                  <a:lnTo>
                    <a:pt x="511472" y="260781"/>
                  </a:lnTo>
                </a:path>
                <a:path w="511809" h="384175">
                  <a:moveTo>
                    <a:pt x="511287" y="260782"/>
                  </a:moveTo>
                  <a:lnTo>
                    <a:pt x="511397" y="318807"/>
                  </a:lnTo>
                </a:path>
                <a:path w="511809" h="384175">
                  <a:moveTo>
                    <a:pt x="460604" y="330350"/>
                  </a:moveTo>
                  <a:lnTo>
                    <a:pt x="460550" y="275924"/>
                  </a:lnTo>
                </a:path>
              </a:pathLst>
            </a:custGeom>
            <a:ln w="22659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79235" y="2432969"/>
              <a:ext cx="501015" cy="511809"/>
            </a:xfrm>
            <a:custGeom>
              <a:avLst/>
              <a:gdLst/>
              <a:ahLst/>
              <a:cxnLst/>
              <a:rect l="l" t="t" r="r" b="b"/>
              <a:pathLst>
                <a:path w="501014" h="511810">
                  <a:moveTo>
                    <a:pt x="21" y="153077"/>
                  </a:moveTo>
                  <a:lnTo>
                    <a:pt x="36419" y="120241"/>
                  </a:lnTo>
                  <a:lnTo>
                    <a:pt x="63741" y="103681"/>
                  </a:lnTo>
                </a:path>
                <a:path w="501014" h="511810">
                  <a:moveTo>
                    <a:pt x="65709" y="204703"/>
                  </a:moveTo>
                  <a:lnTo>
                    <a:pt x="19038" y="233660"/>
                  </a:lnTo>
                  <a:lnTo>
                    <a:pt x="1761" y="249654"/>
                  </a:lnTo>
                  <a:lnTo>
                    <a:pt x="0" y="254617"/>
                  </a:lnTo>
                </a:path>
                <a:path w="501014" h="511810">
                  <a:moveTo>
                    <a:pt x="483826" y="233999"/>
                  </a:moveTo>
                  <a:lnTo>
                    <a:pt x="500868" y="254782"/>
                  </a:lnTo>
                  <a:lnTo>
                    <a:pt x="500792" y="257220"/>
                  </a:lnTo>
                  <a:lnTo>
                    <a:pt x="485896" y="276181"/>
                  </a:lnTo>
                  <a:lnTo>
                    <a:pt x="477832" y="281444"/>
                  </a:lnTo>
                </a:path>
                <a:path w="501014" h="511810">
                  <a:moveTo>
                    <a:pt x="278350" y="401813"/>
                  </a:moveTo>
                  <a:lnTo>
                    <a:pt x="270649" y="405836"/>
                  </a:lnTo>
                  <a:lnTo>
                    <a:pt x="264153" y="407997"/>
                  </a:lnTo>
                  <a:lnTo>
                    <a:pt x="254880" y="409600"/>
                  </a:lnTo>
                  <a:lnTo>
                    <a:pt x="247623" y="409525"/>
                  </a:lnTo>
                  <a:lnTo>
                    <a:pt x="239530" y="408150"/>
                  </a:lnTo>
                  <a:lnTo>
                    <a:pt x="232733" y="405920"/>
                  </a:lnTo>
                  <a:lnTo>
                    <a:pt x="229214" y="404259"/>
                  </a:lnTo>
                  <a:lnTo>
                    <a:pt x="222880" y="400757"/>
                  </a:lnTo>
                  <a:lnTo>
                    <a:pt x="213732" y="395412"/>
                  </a:lnTo>
                </a:path>
                <a:path w="501014" h="511810">
                  <a:moveTo>
                    <a:pt x="71951" y="310375"/>
                  </a:moveTo>
                  <a:lnTo>
                    <a:pt x="35985" y="288081"/>
                  </a:lnTo>
                  <a:lnTo>
                    <a:pt x="3001" y="264175"/>
                  </a:lnTo>
                  <a:lnTo>
                    <a:pt x="871" y="258265"/>
                  </a:lnTo>
                  <a:lnTo>
                    <a:pt x="0" y="254617"/>
                  </a:lnTo>
                </a:path>
                <a:path w="501014" h="511810">
                  <a:moveTo>
                    <a:pt x="279207" y="503307"/>
                  </a:moveTo>
                  <a:lnTo>
                    <a:pt x="272665" y="506458"/>
                  </a:lnTo>
                  <a:lnTo>
                    <a:pt x="266081" y="508905"/>
                  </a:lnTo>
                  <a:lnTo>
                    <a:pt x="259443" y="510677"/>
                  </a:lnTo>
                  <a:lnTo>
                    <a:pt x="252737" y="511803"/>
                  </a:lnTo>
                  <a:lnTo>
                    <a:pt x="245296" y="511432"/>
                  </a:lnTo>
                  <a:lnTo>
                    <a:pt x="237085" y="509679"/>
                  </a:lnTo>
                  <a:lnTo>
                    <a:pt x="231462" y="507504"/>
                  </a:lnTo>
                  <a:lnTo>
                    <a:pt x="226644" y="505046"/>
                  </a:lnTo>
                  <a:lnTo>
                    <a:pt x="219379" y="500911"/>
                  </a:lnTo>
                  <a:lnTo>
                    <a:pt x="209669" y="495097"/>
                  </a:lnTo>
                </a:path>
                <a:path w="501014" h="511810">
                  <a:moveTo>
                    <a:pt x="15832" y="377934"/>
                  </a:moveTo>
                  <a:lnTo>
                    <a:pt x="9579" y="373750"/>
                  </a:lnTo>
                  <a:lnTo>
                    <a:pt x="5018" y="369167"/>
                  </a:lnTo>
                  <a:lnTo>
                    <a:pt x="2055" y="364165"/>
                  </a:lnTo>
                  <a:lnTo>
                    <a:pt x="938" y="358992"/>
                  </a:lnTo>
                  <a:lnTo>
                    <a:pt x="1429" y="352522"/>
                  </a:lnTo>
                  <a:lnTo>
                    <a:pt x="3125" y="348203"/>
                  </a:lnTo>
                  <a:lnTo>
                    <a:pt x="6198" y="344433"/>
                  </a:lnTo>
                  <a:lnTo>
                    <a:pt x="9710" y="341037"/>
                  </a:lnTo>
                  <a:lnTo>
                    <a:pt x="13661" y="338015"/>
                  </a:lnTo>
                </a:path>
                <a:path w="501014" h="511810">
                  <a:moveTo>
                    <a:pt x="279208" y="298925"/>
                  </a:moveTo>
                  <a:lnTo>
                    <a:pt x="273342" y="301725"/>
                  </a:lnTo>
                  <a:lnTo>
                    <a:pt x="267154" y="304115"/>
                  </a:lnTo>
                  <a:lnTo>
                    <a:pt x="260826" y="306022"/>
                  </a:lnTo>
                  <a:lnTo>
                    <a:pt x="254541" y="307371"/>
                  </a:lnTo>
                  <a:lnTo>
                    <a:pt x="247319" y="307331"/>
                  </a:lnTo>
                  <a:lnTo>
                    <a:pt x="239824" y="306072"/>
                  </a:lnTo>
                  <a:lnTo>
                    <a:pt x="231527" y="303378"/>
                  </a:lnTo>
                  <a:lnTo>
                    <a:pt x="227101" y="301231"/>
                  </a:lnTo>
                  <a:lnTo>
                    <a:pt x="220453" y="297534"/>
                  </a:lnTo>
                  <a:lnTo>
                    <a:pt x="211585" y="292285"/>
                  </a:lnTo>
                </a:path>
                <a:path w="501014" h="511810">
                  <a:moveTo>
                    <a:pt x="65709" y="204703"/>
                  </a:moveTo>
                  <a:lnTo>
                    <a:pt x="18930" y="175604"/>
                  </a:lnTo>
                  <a:lnTo>
                    <a:pt x="1523" y="158443"/>
                  </a:lnTo>
                  <a:lnTo>
                    <a:pt x="21" y="153077"/>
                  </a:lnTo>
                </a:path>
                <a:path w="501014" h="511810">
                  <a:moveTo>
                    <a:pt x="436008" y="204887"/>
                  </a:moveTo>
                  <a:lnTo>
                    <a:pt x="483826" y="233999"/>
                  </a:lnTo>
                </a:path>
                <a:path w="501014" h="511810">
                  <a:moveTo>
                    <a:pt x="436846" y="306726"/>
                  </a:moveTo>
                  <a:lnTo>
                    <a:pt x="486234" y="336968"/>
                  </a:lnTo>
                </a:path>
                <a:path w="501014" h="511810">
                  <a:moveTo>
                    <a:pt x="477832" y="281444"/>
                  </a:moveTo>
                  <a:lnTo>
                    <a:pt x="278350" y="401813"/>
                  </a:lnTo>
                </a:path>
                <a:path w="501014" h="511810">
                  <a:moveTo>
                    <a:pt x="486234" y="336968"/>
                  </a:moveTo>
                  <a:lnTo>
                    <a:pt x="499256" y="349090"/>
                  </a:lnTo>
                  <a:lnTo>
                    <a:pt x="499946" y="362194"/>
                  </a:lnTo>
                  <a:lnTo>
                    <a:pt x="491333" y="374348"/>
                  </a:lnTo>
                  <a:lnTo>
                    <a:pt x="476448" y="383623"/>
                  </a:lnTo>
                  <a:lnTo>
                    <a:pt x="279207" y="503307"/>
                  </a:lnTo>
                </a:path>
                <a:path w="501014" h="511810">
                  <a:moveTo>
                    <a:pt x="63741" y="103681"/>
                  </a:moveTo>
                  <a:lnTo>
                    <a:pt x="221081" y="9147"/>
                  </a:lnTo>
                </a:path>
                <a:path w="501014" h="511810">
                  <a:moveTo>
                    <a:pt x="209669" y="495097"/>
                  </a:moveTo>
                  <a:lnTo>
                    <a:pt x="15832" y="377934"/>
                  </a:lnTo>
                </a:path>
                <a:path w="501014" h="511810">
                  <a:moveTo>
                    <a:pt x="220970" y="8971"/>
                  </a:moveTo>
                  <a:lnTo>
                    <a:pt x="249943" y="0"/>
                  </a:lnTo>
                  <a:lnTo>
                    <a:pt x="256101" y="569"/>
                  </a:lnTo>
                  <a:lnTo>
                    <a:pt x="284555" y="11073"/>
                  </a:lnTo>
                  <a:lnTo>
                    <a:pt x="289096" y="15271"/>
                  </a:lnTo>
                </a:path>
                <a:path w="501014" h="511810">
                  <a:moveTo>
                    <a:pt x="289733" y="14582"/>
                  </a:moveTo>
                  <a:lnTo>
                    <a:pt x="484267" y="131707"/>
                  </a:lnTo>
                </a:path>
                <a:path w="501014" h="511810">
                  <a:moveTo>
                    <a:pt x="213732" y="395412"/>
                  </a:moveTo>
                  <a:lnTo>
                    <a:pt x="71951" y="310375"/>
                  </a:lnTo>
                </a:path>
                <a:path w="501014" h="511810">
                  <a:moveTo>
                    <a:pt x="484267" y="131707"/>
                  </a:moveTo>
                  <a:lnTo>
                    <a:pt x="498895" y="144523"/>
                  </a:lnTo>
                  <a:lnTo>
                    <a:pt x="499778" y="158388"/>
                  </a:lnTo>
                  <a:lnTo>
                    <a:pt x="490823" y="171018"/>
                  </a:lnTo>
                  <a:lnTo>
                    <a:pt x="475937" y="180124"/>
                  </a:lnTo>
                  <a:lnTo>
                    <a:pt x="279208" y="298925"/>
                  </a:lnTo>
                </a:path>
                <a:path w="501014" h="511810">
                  <a:moveTo>
                    <a:pt x="13661" y="338015"/>
                  </a:moveTo>
                  <a:lnTo>
                    <a:pt x="65308" y="306529"/>
                  </a:lnTo>
                </a:path>
                <a:path w="501014" h="511810">
                  <a:moveTo>
                    <a:pt x="211585" y="292285"/>
                  </a:moveTo>
                  <a:lnTo>
                    <a:pt x="65709" y="204703"/>
                  </a:lnTo>
                </a:path>
              </a:pathLst>
            </a:custGeom>
            <a:ln w="22668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43529" y="2433299"/>
              <a:ext cx="428625" cy="511809"/>
            </a:xfrm>
            <a:custGeom>
              <a:avLst/>
              <a:gdLst/>
              <a:ahLst/>
              <a:cxnLst/>
              <a:rect l="l" t="t" r="r" b="b"/>
              <a:pathLst>
                <a:path w="428625" h="511810">
                  <a:moveTo>
                    <a:pt x="10441" y="8294"/>
                  </a:moveTo>
                  <a:lnTo>
                    <a:pt x="179" y="50621"/>
                  </a:lnTo>
                  <a:lnTo>
                    <a:pt x="15" y="72263"/>
                  </a:lnTo>
                </a:path>
                <a:path w="428625" h="511810">
                  <a:moveTo>
                    <a:pt x="0" y="471890"/>
                  </a:moveTo>
                  <a:lnTo>
                    <a:pt x="17781" y="508085"/>
                  </a:lnTo>
                  <a:lnTo>
                    <a:pt x="31498" y="511360"/>
                  </a:lnTo>
                  <a:lnTo>
                    <a:pt x="47474" y="511437"/>
                  </a:lnTo>
                </a:path>
                <a:path w="428625" h="511810">
                  <a:moveTo>
                    <a:pt x="392295" y="511472"/>
                  </a:moveTo>
                  <a:lnTo>
                    <a:pt x="425645" y="491963"/>
                  </a:lnTo>
                  <a:lnTo>
                    <a:pt x="428182" y="473399"/>
                  </a:lnTo>
                  <a:lnTo>
                    <a:pt x="428319" y="464278"/>
                  </a:lnTo>
                </a:path>
                <a:path w="428625" h="511810">
                  <a:moveTo>
                    <a:pt x="428398" y="39532"/>
                  </a:moveTo>
                  <a:lnTo>
                    <a:pt x="410569" y="3252"/>
                  </a:lnTo>
                  <a:lnTo>
                    <a:pt x="396823" y="57"/>
                  </a:lnTo>
                  <a:lnTo>
                    <a:pt x="380877" y="0"/>
                  </a:lnTo>
                </a:path>
                <a:path w="428625" h="511810">
                  <a:moveTo>
                    <a:pt x="29979" y="125"/>
                  </a:moveTo>
                  <a:lnTo>
                    <a:pt x="25490" y="711"/>
                  </a:lnTo>
                  <a:lnTo>
                    <a:pt x="21073" y="1969"/>
                  </a:lnTo>
                  <a:lnTo>
                    <a:pt x="12812" y="5811"/>
                  </a:lnTo>
                </a:path>
                <a:path w="428625" h="511810">
                  <a:moveTo>
                    <a:pt x="10441" y="8294"/>
                  </a:moveTo>
                  <a:lnTo>
                    <a:pt x="12812" y="5811"/>
                  </a:lnTo>
                </a:path>
              </a:pathLst>
            </a:custGeom>
            <a:ln w="2265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06141" y="2535607"/>
              <a:ext cx="76360" cy="7636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20436" y="2573314"/>
              <a:ext cx="175260" cy="635"/>
            </a:xfrm>
            <a:custGeom>
              <a:avLst/>
              <a:gdLst/>
              <a:ahLst/>
              <a:cxnLst/>
              <a:rect l="l" t="t" r="r" b="b"/>
              <a:pathLst>
                <a:path w="175260" h="635">
                  <a:moveTo>
                    <a:pt x="0" y="0"/>
                  </a:moveTo>
                  <a:lnTo>
                    <a:pt x="175014" y="105"/>
                  </a:lnTo>
                </a:path>
              </a:pathLst>
            </a:custGeom>
            <a:ln w="2265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06107" y="2647458"/>
              <a:ext cx="76409" cy="7640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19777" y="2684801"/>
              <a:ext cx="177165" cy="635"/>
            </a:xfrm>
            <a:custGeom>
              <a:avLst/>
              <a:gdLst/>
              <a:ahLst/>
              <a:cxnLst/>
              <a:rect l="l" t="t" r="r" b="b"/>
              <a:pathLst>
                <a:path w="177164" h="635">
                  <a:moveTo>
                    <a:pt x="0" y="0"/>
                  </a:moveTo>
                  <a:lnTo>
                    <a:pt x="176566" y="23"/>
                  </a:lnTo>
                </a:path>
              </a:pathLst>
            </a:custGeom>
            <a:ln w="2265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06075" y="2759092"/>
              <a:ext cx="76396" cy="7639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43529" y="2433299"/>
              <a:ext cx="428625" cy="511809"/>
            </a:xfrm>
            <a:custGeom>
              <a:avLst/>
              <a:gdLst/>
              <a:ahLst/>
              <a:cxnLst/>
              <a:rect l="l" t="t" r="r" b="b"/>
              <a:pathLst>
                <a:path w="428625" h="511810">
                  <a:moveTo>
                    <a:pt x="15" y="72263"/>
                  </a:moveTo>
                  <a:lnTo>
                    <a:pt x="0" y="471890"/>
                  </a:lnTo>
                </a:path>
                <a:path w="428625" h="511810">
                  <a:moveTo>
                    <a:pt x="176248" y="363823"/>
                  </a:moveTo>
                  <a:lnTo>
                    <a:pt x="352815" y="363842"/>
                  </a:lnTo>
                </a:path>
                <a:path w="428625" h="511810">
                  <a:moveTo>
                    <a:pt x="47474" y="511437"/>
                  </a:moveTo>
                  <a:lnTo>
                    <a:pt x="392295" y="511472"/>
                  </a:lnTo>
                </a:path>
                <a:path w="428625" h="511810">
                  <a:moveTo>
                    <a:pt x="380877" y="0"/>
                  </a:moveTo>
                  <a:lnTo>
                    <a:pt x="29979" y="125"/>
                  </a:lnTo>
                </a:path>
                <a:path w="428625" h="511810">
                  <a:moveTo>
                    <a:pt x="428319" y="464278"/>
                  </a:moveTo>
                  <a:lnTo>
                    <a:pt x="428398" y="39532"/>
                  </a:lnTo>
                </a:path>
              </a:pathLst>
            </a:custGeom>
            <a:ln w="2265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9772" y="2458768"/>
              <a:ext cx="511809" cy="461009"/>
            </a:xfrm>
            <a:custGeom>
              <a:avLst/>
              <a:gdLst/>
              <a:ahLst/>
              <a:cxnLst/>
              <a:rect l="l" t="t" r="r" b="b"/>
              <a:pathLst>
                <a:path w="511810" h="461010">
                  <a:moveTo>
                    <a:pt x="307140" y="210926"/>
                  </a:moveTo>
                  <a:lnTo>
                    <a:pt x="297414" y="241084"/>
                  </a:lnTo>
                  <a:lnTo>
                    <a:pt x="297062" y="250929"/>
                  </a:lnTo>
                </a:path>
                <a:path w="511810" h="461010">
                  <a:moveTo>
                    <a:pt x="295805" y="391771"/>
                  </a:moveTo>
                  <a:lnTo>
                    <a:pt x="295718" y="397520"/>
                  </a:lnTo>
                </a:path>
                <a:path w="511810" h="461010">
                  <a:moveTo>
                    <a:pt x="511472" y="1241"/>
                  </a:moveTo>
                  <a:lnTo>
                    <a:pt x="0" y="0"/>
                  </a:lnTo>
                </a:path>
                <a:path w="511810" h="461010">
                  <a:moveTo>
                    <a:pt x="295718" y="397520"/>
                  </a:moveTo>
                  <a:lnTo>
                    <a:pt x="215163" y="460535"/>
                  </a:lnTo>
                  <a:lnTo>
                    <a:pt x="216171" y="246944"/>
                  </a:lnTo>
                  <a:lnTo>
                    <a:pt x="215053" y="234311"/>
                  </a:lnTo>
                  <a:lnTo>
                    <a:pt x="210697" y="221600"/>
                  </a:lnTo>
                  <a:lnTo>
                    <a:pt x="202850" y="209020"/>
                  </a:lnTo>
                  <a:lnTo>
                    <a:pt x="191258" y="196778"/>
                  </a:lnTo>
                  <a:lnTo>
                    <a:pt x="0" y="0"/>
                  </a:lnTo>
                </a:path>
                <a:path w="511810" h="461010">
                  <a:moveTo>
                    <a:pt x="511472" y="1241"/>
                  </a:moveTo>
                  <a:lnTo>
                    <a:pt x="307140" y="210926"/>
                  </a:lnTo>
                </a:path>
                <a:path w="511810" h="461010">
                  <a:moveTo>
                    <a:pt x="297062" y="250929"/>
                  </a:moveTo>
                  <a:lnTo>
                    <a:pt x="295805" y="391771"/>
                  </a:lnTo>
                </a:path>
              </a:pathLst>
            </a:custGeom>
            <a:ln w="2265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62250" y="4113574"/>
            <a:ext cx="142113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700" marR="5080" indent="-635635">
              <a:lnSpc>
                <a:spcPct val="108100"/>
              </a:lnSpc>
              <a:spcBef>
                <a:spcPts val="95"/>
              </a:spcBef>
            </a:pPr>
            <a:r>
              <a:rPr sz="1800" spc="55" dirty="0">
                <a:solidFill>
                  <a:srgbClr val="4B4B4B"/>
                </a:solidFill>
                <a:latin typeface="Cambria"/>
                <a:cs typeface="Cambria"/>
              </a:rPr>
              <a:t>Preprocessin </a:t>
            </a:r>
            <a:r>
              <a:rPr sz="1800" spc="45" dirty="0">
                <a:solidFill>
                  <a:srgbClr val="4B4B4B"/>
                </a:solidFill>
                <a:latin typeface="Cambria"/>
                <a:cs typeface="Cambria"/>
              </a:rPr>
              <a:t>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95571" y="4113574"/>
            <a:ext cx="98044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2865">
              <a:lnSpc>
                <a:spcPct val="108100"/>
              </a:lnSpc>
              <a:spcBef>
                <a:spcPts val="95"/>
              </a:spcBef>
            </a:pPr>
            <a:r>
              <a:rPr sz="1800" spc="60" dirty="0">
                <a:solidFill>
                  <a:srgbClr val="4B4B4B"/>
                </a:solidFill>
                <a:latin typeface="Cambria"/>
                <a:cs typeface="Cambria"/>
              </a:rPr>
              <a:t>Feature </a:t>
            </a:r>
            <a:r>
              <a:rPr sz="1800" spc="50" dirty="0">
                <a:solidFill>
                  <a:srgbClr val="4B4B4B"/>
                </a:solidFill>
                <a:latin typeface="Cambria"/>
                <a:cs typeface="Cambria"/>
              </a:rPr>
              <a:t>selection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5731" y="4113574"/>
            <a:ext cx="146431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295" marR="5080" indent="-62230">
              <a:lnSpc>
                <a:spcPct val="108100"/>
              </a:lnSpc>
              <a:spcBef>
                <a:spcPts val="95"/>
              </a:spcBef>
            </a:pPr>
            <a:r>
              <a:rPr sz="1800" spc="75" dirty="0">
                <a:solidFill>
                  <a:srgbClr val="4B4B4B"/>
                </a:solidFill>
                <a:latin typeface="Cambria"/>
                <a:cs typeface="Cambria"/>
              </a:rPr>
              <a:t>Dimensionali </a:t>
            </a:r>
            <a:r>
              <a:rPr sz="1800" spc="60" dirty="0">
                <a:solidFill>
                  <a:srgbClr val="4B4B4B"/>
                </a:solidFill>
                <a:latin typeface="Cambria"/>
                <a:cs typeface="Cambria"/>
              </a:rPr>
              <a:t>ty</a:t>
            </a:r>
            <a:r>
              <a:rPr sz="1800" spc="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B4B4B"/>
                </a:solidFill>
                <a:latin typeface="Cambria"/>
                <a:cs typeface="Cambria"/>
              </a:rPr>
              <a:t>reduction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64909" y="4277245"/>
            <a:ext cx="112903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60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12068" y="4113574"/>
            <a:ext cx="1399540" cy="6191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800" spc="70" dirty="0">
                <a:solidFill>
                  <a:srgbClr val="4B4B4B"/>
                </a:solidFill>
                <a:latin typeface="Cambria"/>
                <a:cs typeface="Cambria"/>
              </a:rPr>
              <a:t>PCA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800" spc="60" dirty="0">
                <a:solidFill>
                  <a:srgbClr val="4B4B4B"/>
                </a:solidFill>
                <a:latin typeface="Cambria"/>
                <a:cs typeface="Cambria"/>
              </a:rPr>
              <a:t>visualisation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7374" y="5348731"/>
            <a:ext cx="966660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560">
              <a:lnSpc>
                <a:spcPct val="136900"/>
              </a:lnSpc>
              <a:spcBef>
                <a:spcPts val="95"/>
              </a:spcBef>
            </a:pP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pipeline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organises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dataset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preparation,</a:t>
            </a:r>
            <a:r>
              <a:rPr sz="1050" spc="9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parallel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experiments,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objective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evaluation</a:t>
            </a:r>
            <a:r>
              <a:rPr sz="1050" spc="9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(silhouette)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and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visual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inspection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(PCA)</a:t>
            </a:r>
            <a:r>
              <a:rPr sz="1050" spc="9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5" dirty="0">
                <a:solidFill>
                  <a:srgbClr val="4B4B4B"/>
                </a:solidFill>
                <a:latin typeface="Cambria"/>
                <a:cs typeface="Cambria"/>
              </a:rPr>
              <a:t>support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detection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hypotheses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without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requiring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labelled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training.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35" name="object 35">
            <a:hlinkClick r:id="rId17"/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80" dirty="0"/>
              <a:t>Data</a:t>
            </a:r>
            <a:r>
              <a:rPr spc="20" dirty="0"/>
              <a:t> </a:t>
            </a:r>
            <a:r>
              <a:rPr spc="150" dirty="0"/>
              <a:t>Analysis</a:t>
            </a:r>
            <a:r>
              <a:rPr spc="20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spc="75" dirty="0"/>
              <a:t>CICIDS2017</a:t>
            </a:r>
            <a:r>
              <a:rPr spc="25" dirty="0"/>
              <a:t> </a:t>
            </a:r>
            <a:r>
              <a:rPr spc="18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Dataset</a:t>
            </a:r>
            <a:r>
              <a:rPr spc="20" dirty="0"/>
              <a:t> </a:t>
            </a:r>
            <a:r>
              <a:rPr spc="85" dirty="0"/>
              <a:t>Hierarchy</a:t>
            </a:r>
          </a:p>
          <a:p>
            <a:pPr marL="12700" marR="5080" indent="400685">
              <a:lnSpc>
                <a:spcPct val="134300"/>
              </a:lnSpc>
              <a:spcBef>
                <a:spcPts val="1140"/>
              </a:spcBef>
            </a:pPr>
            <a:r>
              <a:rPr sz="1350" spc="10" dirty="0">
                <a:solidFill>
                  <a:srgbClr val="4B4B4B"/>
                </a:solidFill>
              </a:rPr>
              <a:t>CICIDS2017</a:t>
            </a:r>
            <a:r>
              <a:rPr sz="1350" spc="105" dirty="0">
                <a:solidFill>
                  <a:srgbClr val="4B4B4B"/>
                </a:solidFill>
              </a:rPr>
              <a:t> </a:t>
            </a:r>
            <a:r>
              <a:rPr sz="1350" spc="50" dirty="0">
                <a:solidFill>
                  <a:srgbClr val="4B4B4B"/>
                </a:solidFill>
              </a:rPr>
              <a:t>categorises</a:t>
            </a:r>
            <a:r>
              <a:rPr sz="1350" spc="105" dirty="0">
                <a:solidFill>
                  <a:srgbClr val="4B4B4B"/>
                </a:solidFill>
              </a:rPr>
              <a:t> </a:t>
            </a:r>
            <a:r>
              <a:rPr sz="1350" spc="65" dirty="0">
                <a:solidFill>
                  <a:srgbClr val="4B4B4B"/>
                </a:solidFill>
              </a:rPr>
              <a:t>flows</a:t>
            </a:r>
            <a:r>
              <a:rPr sz="1350" spc="105" dirty="0">
                <a:solidFill>
                  <a:srgbClr val="4B4B4B"/>
                </a:solidFill>
              </a:rPr>
              <a:t> </a:t>
            </a:r>
            <a:r>
              <a:rPr sz="1350" spc="60" dirty="0">
                <a:solidFill>
                  <a:srgbClr val="4B4B4B"/>
                </a:solidFill>
              </a:rPr>
              <a:t>as</a:t>
            </a:r>
            <a:r>
              <a:rPr sz="1350" spc="105" dirty="0">
                <a:solidFill>
                  <a:srgbClr val="4B4B4B"/>
                </a:solidFill>
              </a:rPr>
              <a:t> </a:t>
            </a:r>
            <a:r>
              <a:rPr sz="1350" spc="85" dirty="0">
                <a:solidFill>
                  <a:srgbClr val="4B4B4B"/>
                </a:solidFill>
              </a:rPr>
              <a:t>BENIGN</a:t>
            </a:r>
            <a:r>
              <a:rPr sz="1350" spc="110" dirty="0">
                <a:solidFill>
                  <a:srgbClr val="4B4B4B"/>
                </a:solidFill>
              </a:rPr>
              <a:t> </a:t>
            </a:r>
            <a:r>
              <a:rPr sz="1350" spc="95" dirty="0">
                <a:solidFill>
                  <a:srgbClr val="4B4B4B"/>
                </a:solidFill>
              </a:rPr>
              <a:t>and</a:t>
            </a:r>
            <a:r>
              <a:rPr sz="1350" spc="105" dirty="0">
                <a:solidFill>
                  <a:srgbClr val="4B4B4B"/>
                </a:solidFill>
              </a:rPr>
              <a:t> </a:t>
            </a:r>
            <a:r>
              <a:rPr sz="1350" spc="60" dirty="0">
                <a:solidFill>
                  <a:srgbClr val="4B4B4B"/>
                </a:solidFill>
              </a:rPr>
              <a:t>multiple </a:t>
            </a:r>
            <a:r>
              <a:rPr sz="1350" spc="55" dirty="0">
                <a:solidFill>
                  <a:srgbClr val="4B4B4B"/>
                </a:solidFill>
              </a:rPr>
              <a:t>attack</a:t>
            </a:r>
            <a:r>
              <a:rPr sz="1350" spc="60" dirty="0">
                <a:solidFill>
                  <a:srgbClr val="4B4B4B"/>
                </a:solidFill>
              </a:rPr>
              <a:t> </a:t>
            </a:r>
            <a:r>
              <a:rPr sz="1350" spc="50" dirty="0">
                <a:solidFill>
                  <a:srgbClr val="4B4B4B"/>
                </a:solidFill>
              </a:rPr>
              <a:t>types.</a:t>
            </a:r>
            <a:r>
              <a:rPr sz="1350" spc="60" dirty="0">
                <a:solidFill>
                  <a:srgbClr val="4B4B4B"/>
                </a:solidFill>
              </a:rPr>
              <a:t> Representative </a:t>
            </a:r>
            <a:r>
              <a:rPr sz="1350" spc="45" dirty="0">
                <a:solidFill>
                  <a:srgbClr val="4B4B4B"/>
                </a:solidFill>
              </a:rPr>
              <a:t>structure:</a:t>
            </a:r>
            <a:endParaRPr sz="135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350"/>
          </a:p>
          <a:p>
            <a:pPr marL="333375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4B4B4B"/>
                </a:solidFill>
              </a:rPr>
              <a:t>CICIDS2017</a:t>
            </a:r>
            <a:endParaRPr sz="1050"/>
          </a:p>
          <a:p>
            <a:pPr marL="333375">
              <a:lnSpc>
                <a:spcPct val="100000"/>
              </a:lnSpc>
              <a:spcBef>
                <a:spcPts val="315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4B4B4B"/>
                </a:solidFill>
              </a:rPr>
              <a:t>BENIGN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4B4B4B"/>
                </a:solidFill>
              </a:rPr>
              <a:t>DDoS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35" dirty="0">
                <a:solidFill>
                  <a:srgbClr val="4B4B4B"/>
                </a:solidFill>
              </a:rPr>
              <a:t>DoS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50" dirty="0">
                <a:solidFill>
                  <a:srgbClr val="4B4B4B"/>
                </a:solidFill>
              </a:rPr>
              <a:t>PortScan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200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4B4B4B"/>
                </a:solidFill>
              </a:rPr>
              <a:t>Brute</a:t>
            </a:r>
            <a:r>
              <a:rPr sz="1050" spc="65" dirty="0">
                <a:solidFill>
                  <a:srgbClr val="4B4B4B"/>
                </a:solidFill>
              </a:rPr>
              <a:t> </a:t>
            </a:r>
            <a:r>
              <a:rPr sz="1050" spc="30" dirty="0">
                <a:solidFill>
                  <a:srgbClr val="4B4B4B"/>
                </a:solidFill>
              </a:rPr>
              <a:t>Force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359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200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4B4B4B"/>
                </a:solidFill>
              </a:rPr>
              <a:t>Web</a:t>
            </a:r>
            <a:r>
              <a:rPr sz="1050" spc="65" dirty="0">
                <a:solidFill>
                  <a:srgbClr val="4B4B4B"/>
                </a:solidFill>
              </a:rPr>
              <a:t> </a:t>
            </a:r>
            <a:r>
              <a:rPr sz="1050" spc="45" dirty="0">
                <a:solidFill>
                  <a:srgbClr val="4B4B4B"/>
                </a:solidFill>
              </a:rPr>
              <a:t>Attacks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4B4B4B"/>
                </a:solidFill>
              </a:rPr>
              <a:t>Infiltration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├──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4B4B4B"/>
                </a:solidFill>
              </a:rPr>
              <a:t>Bot</a:t>
            </a:r>
            <a:endParaRPr sz="1050">
              <a:latin typeface="Lucida Sans Unicode"/>
              <a:cs typeface="Lucida Sans Unicode"/>
            </a:endParaRPr>
          </a:p>
          <a:p>
            <a:pPr marL="333375">
              <a:lnSpc>
                <a:spcPct val="100000"/>
              </a:lnSpc>
              <a:spcBef>
                <a:spcPts val="284"/>
              </a:spcBef>
            </a:pPr>
            <a:r>
              <a:rPr sz="1200" spc="-95" dirty="0">
                <a:solidFill>
                  <a:srgbClr val="4B4B4B"/>
                </a:solidFill>
                <a:latin typeface="Lucida Sans Unicode"/>
                <a:cs typeface="Lucida Sans Unicode"/>
              </a:rPr>
              <a:t>└──</a:t>
            </a:r>
            <a:r>
              <a:rPr sz="1200" spc="-19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4B4B4B"/>
                </a:solidFill>
              </a:rPr>
              <a:t>Heartbleed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2649" y="2505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649" y="2847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62649" y="3181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62649" y="3514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2649" y="3848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20928" y="1935162"/>
            <a:ext cx="4566920" cy="28676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3A3A3A"/>
                </a:solidFill>
                <a:latin typeface="Cambria"/>
                <a:cs typeface="Cambria"/>
              </a:rPr>
              <a:t>Representative</a:t>
            </a:r>
            <a:r>
              <a:rPr sz="1650" spc="55" dirty="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3A3A3A"/>
                </a:solidFill>
                <a:latin typeface="Cambria"/>
                <a:cs typeface="Cambria"/>
              </a:rPr>
              <a:t>Features</a:t>
            </a:r>
            <a:endParaRPr sz="1650">
              <a:latin typeface="Cambria"/>
              <a:cs typeface="Cambria"/>
            </a:endParaRPr>
          </a:p>
          <a:p>
            <a:pPr marL="286385" marR="3094355">
              <a:lnSpc>
                <a:spcPct val="166700"/>
              </a:lnSpc>
              <a:spcBef>
                <a:spcPts val="615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Duration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Packet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Count</a:t>
            </a:r>
            <a:endParaRPr sz="1350">
              <a:latin typeface="Cambria"/>
              <a:cs typeface="Cambria"/>
            </a:endParaRPr>
          </a:p>
          <a:p>
            <a:pPr marL="286385" marR="2169160">
              <a:lnSpc>
                <a:spcPct val="162000"/>
              </a:lnSpc>
            </a:pP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Packet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Length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(mean,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20" dirty="0">
                <a:solidFill>
                  <a:srgbClr val="4B4B4B"/>
                </a:solidFill>
                <a:latin typeface="Cambria"/>
                <a:cs typeface="Cambria"/>
              </a:rPr>
              <a:t>std)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Bytes/sec</a:t>
            </a:r>
            <a:endParaRPr sz="135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Packets/sec</a:t>
            </a:r>
            <a:endParaRPr sz="1350">
              <a:latin typeface="Cambria"/>
              <a:cs typeface="Cambria"/>
            </a:endParaRPr>
          </a:p>
          <a:p>
            <a:pPr marL="12700" marR="5080" indent="35560" algn="just">
              <a:lnSpc>
                <a:spcPct val="136900"/>
              </a:lnSpc>
              <a:spcBef>
                <a:spcPts val="1290"/>
              </a:spcBef>
            </a:pP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Format: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CSV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network-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records. Dataset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contains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both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benign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and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labelled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attack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traces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used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here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only for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interpretation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(unsupervised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experiments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do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not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use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labels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0" dirty="0">
                <a:solidFill>
                  <a:srgbClr val="4B4B4B"/>
                </a:solidFill>
                <a:latin typeface="Cambria"/>
                <a:cs typeface="Cambria"/>
              </a:rPr>
              <a:t>training).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10" name="object 1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05850"/>
          </a:xfrm>
          <a:custGeom>
            <a:avLst/>
            <a:gdLst/>
            <a:ahLst/>
            <a:cxnLst/>
            <a:rect l="l" t="t" r="r" b="b"/>
            <a:pathLst>
              <a:path w="11430000" h="8705850">
                <a:moveTo>
                  <a:pt x="11429999" y="8705849"/>
                </a:moveTo>
                <a:lnTo>
                  <a:pt x="0" y="87058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70584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5" dirty="0"/>
              <a:t>Methodology</a:t>
            </a:r>
            <a:r>
              <a:rPr spc="20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spc="100" dirty="0"/>
              <a:t>End-</a:t>
            </a:r>
            <a:r>
              <a:rPr dirty="0"/>
              <a:t>to-</a:t>
            </a:r>
            <a:r>
              <a:rPr spc="200" dirty="0"/>
              <a:t>End</a:t>
            </a:r>
            <a:r>
              <a:rPr spc="25" dirty="0"/>
              <a:t> </a:t>
            </a:r>
            <a:r>
              <a:rPr spc="14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524000"/>
            <a:ext cx="9832847" cy="40599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08165" y="1857184"/>
            <a:ext cx="17595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60" dirty="0">
                <a:latin typeface="Cambria"/>
                <a:cs typeface="Cambria"/>
              </a:rPr>
              <a:t>Preprocess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165" y="2869915"/>
            <a:ext cx="141224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70" dirty="0">
                <a:latin typeface="Cambria"/>
                <a:cs typeface="Cambria"/>
              </a:rPr>
              <a:t>Feature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Prep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165" y="3872415"/>
            <a:ext cx="11296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60" dirty="0">
                <a:latin typeface="Cambria"/>
                <a:cs typeface="Cambria"/>
              </a:rPr>
              <a:t>Clustering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165" y="4885146"/>
            <a:ext cx="93281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65" dirty="0">
                <a:latin typeface="Cambria"/>
                <a:cs typeface="Cambria"/>
              </a:rPr>
              <a:t>Analysis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4" y="5860414"/>
            <a:ext cx="956754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885">
              <a:lnSpc>
                <a:spcPct val="134300"/>
              </a:lnSpc>
              <a:spcBef>
                <a:spcPts val="10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Visual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emphasised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parallelism: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K-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Means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(partitioning)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and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Hierarchical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(nested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dendrogram)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operate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on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350" spc="1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same preprocessed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feature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space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provide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complementary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cluster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45" dirty="0">
                <a:solidFill>
                  <a:srgbClr val="4B4B4B"/>
                </a:solidFill>
                <a:latin typeface="Cambria"/>
                <a:cs typeface="Cambria"/>
              </a:rPr>
              <a:t>perspectives.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074" y="6657974"/>
            <a:ext cx="3312160" cy="1588135"/>
            <a:chOff x="600074" y="6657974"/>
            <a:chExt cx="3312160" cy="1588135"/>
          </a:xfrm>
        </p:grpSpPr>
        <p:sp>
          <p:nvSpPr>
            <p:cNvPr id="11" name="object 11"/>
            <p:cNvSpPr/>
            <p:nvPr/>
          </p:nvSpPr>
          <p:spPr>
            <a:xfrm>
              <a:off x="617206" y="6675104"/>
              <a:ext cx="3295015" cy="1570990"/>
            </a:xfrm>
            <a:custGeom>
              <a:avLst/>
              <a:gdLst/>
              <a:ahLst/>
              <a:cxnLst/>
              <a:rect l="l" t="t" r="r" b="b"/>
              <a:pathLst>
                <a:path w="3295015" h="1570990">
                  <a:moveTo>
                    <a:pt x="3283762" y="1544969"/>
                  </a:moveTo>
                  <a:lnTo>
                    <a:pt x="3225205" y="1544969"/>
                  </a:lnTo>
                  <a:lnTo>
                    <a:pt x="3231644" y="1543687"/>
                  </a:lnTo>
                  <a:lnTo>
                    <a:pt x="3244014" y="1538564"/>
                  </a:lnTo>
                  <a:lnTo>
                    <a:pt x="3267712" y="1507620"/>
                  </a:lnTo>
                  <a:lnTo>
                    <a:pt x="3268993" y="1501180"/>
                  </a:lnTo>
                  <a:lnTo>
                    <a:pt x="3268993" y="36182"/>
                  </a:lnTo>
                  <a:lnTo>
                    <a:pt x="3249473" y="2447"/>
                  </a:lnTo>
                  <a:lnTo>
                    <a:pt x="3245811" y="0"/>
                  </a:lnTo>
                  <a:lnTo>
                    <a:pt x="3250155" y="863"/>
                  </a:lnTo>
                  <a:lnTo>
                    <a:pt x="3282289" y="22335"/>
                  </a:lnTo>
                  <a:lnTo>
                    <a:pt x="3294591" y="55010"/>
                  </a:lnTo>
                  <a:lnTo>
                    <a:pt x="3294591" y="1514500"/>
                  </a:lnTo>
                  <a:lnTo>
                    <a:pt x="3286667" y="1540621"/>
                  </a:lnTo>
                  <a:lnTo>
                    <a:pt x="3283762" y="1544969"/>
                  </a:lnTo>
                  <a:close/>
                </a:path>
                <a:path w="3295015" h="1570990">
                  <a:moveTo>
                    <a:pt x="3238524" y="1570567"/>
                  </a:moveTo>
                  <a:lnTo>
                    <a:pt x="55009" y="1570567"/>
                  </a:lnTo>
                  <a:lnTo>
                    <a:pt x="51107" y="1570183"/>
                  </a:lnTo>
                  <a:lnTo>
                    <a:pt x="13731" y="1550205"/>
                  </a:lnTo>
                  <a:lnTo>
                    <a:pt x="95" y="1522266"/>
                  </a:lnTo>
                  <a:lnTo>
                    <a:pt x="0" y="1521788"/>
                  </a:lnTo>
                  <a:lnTo>
                    <a:pt x="36181" y="1544969"/>
                  </a:lnTo>
                  <a:lnTo>
                    <a:pt x="3283762" y="1544969"/>
                  </a:lnTo>
                  <a:lnTo>
                    <a:pt x="3282289" y="1547174"/>
                  </a:lnTo>
                  <a:lnTo>
                    <a:pt x="3250155" y="1568644"/>
                  </a:lnTo>
                  <a:lnTo>
                    <a:pt x="3242426" y="1570183"/>
                  </a:lnTo>
                  <a:lnTo>
                    <a:pt x="3238524" y="1570567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1" y="1552573"/>
                  </a:moveTo>
                  <a:lnTo>
                    <a:pt x="47167" y="1552573"/>
                  </a:lnTo>
                  <a:lnTo>
                    <a:pt x="43884" y="1552250"/>
                  </a:lnTo>
                  <a:lnTo>
                    <a:pt x="10349" y="1532892"/>
                  </a:lnTo>
                  <a:lnTo>
                    <a:pt x="0" y="1505406"/>
                  </a:lnTo>
                  <a:lnTo>
                    <a:pt x="0" y="1502091"/>
                  </a:lnTo>
                  <a:lnTo>
                    <a:pt x="0" y="47166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8"/>
                  </a:lnTo>
                  <a:lnTo>
                    <a:pt x="3276599" y="47166"/>
                  </a:lnTo>
                  <a:lnTo>
                    <a:pt x="3276599" y="1505406"/>
                  </a:lnTo>
                  <a:lnTo>
                    <a:pt x="3259470" y="1540130"/>
                  </a:lnTo>
                  <a:lnTo>
                    <a:pt x="3232714" y="1552250"/>
                  </a:lnTo>
                  <a:lnTo>
                    <a:pt x="3229431" y="1552573"/>
                  </a:lnTo>
                  <a:close/>
                </a:path>
              </a:pathLst>
            </a:custGeom>
            <a:solidFill>
              <a:srgbClr val="FD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3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61813" y="14785"/>
                  </a:lnTo>
                  <a:lnTo>
                    <a:pt x="3264157" y="17129"/>
                  </a:lnTo>
                  <a:lnTo>
                    <a:pt x="3276599" y="47167"/>
                  </a:lnTo>
                  <a:lnTo>
                    <a:pt x="3276599" y="50482"/>
                  </a:lnTo>
                  <a:lnTo>
                    <a:pt x="3276599" y="1502092"/>
                  </a:lnTo>
                  <a:lnTo>
                    <a:pt x="3276599" y="1505406"/>
                  </a:lnTo>
                  <a:lnTo>
                    <a:pt x="3276276" y="1508689"/>
                  </a:lnTo>
                  <a:lnTo>
                    <a:pt x="3275629" y="1511940"/>
                  </a:lnTo>
                  <a:lnTo>
                    <a:pt x="3274983" y="1515191"/>
                  </a:lnTo>
                  <a:lnTo>
                    <a:pt x="3274025" y="1518347"/>
                  </a:lnTo>
                  <a:lnTo>
                    <a:pt x="3272756" y="1521409"/>
                  </a:lnTo>
                  <a:lnTo>
                    <a:pt x="3271488" y="1524471"/>
                  </a:lnTo>
                  <a:lnTo>
                    <a:pt x="3254163" y="1544065"/>
                  </a:lnTo>
                  <a:lnTo>
                    <a:pt x="3251407" y="1545907"/>
                  </a:lnTo>
                  <a:lnTo>
                    <a:pt x="3248498" y="1547462"/>
                  </a:lnTo>
                  <a:lnTo>
                    <a:pt x="3245435" y="1548730"/>
                  </a:lnTo>
                  <a:lnTo>
                    <a:pt x="3242373" y="1549999"/>
                  </a:lnTo>
                  <a:lnTo>
                    <a:pt x="3226117" y="1552574"/>
                  </a:lnTo>
                  <a:lnTo>
                    <a:pt x="50482" y="1552574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3"/>
                  </a:lnTo>
                  <a:lnTo>
                    <a:pt x="37382" y="1550956"/>
                  </a:lnTo>
                  <a:lnTo>
                    <a:pt x="22435" y="1544065"/>
                  </a:lnTo>
                  <a:lnTo>
                    <a:pt x="19679" y="1542224"/>
                  </a:lnTo>
                  <a:lnTo>
                    <a:pt x="8507" y="1530137"/>
                  </a:lnTo>
                  <a:lnTo>
                    <a:pt x="6666" y="1527381"/>
                  </a:lnTo>
                  <a:lnTo>
                    <a:pt x="969" y="1511940"/>
                  </a:lnTo>
                  <a:lnTo>
                    <a:pt x="323" y="1508689"/>
                  </a:lnTo>
                  <a:lnTo>
                    <a:pt x="0" y="1505406"/>
                  </a:lnTo>
                  <a:lnTo>
                    <a:pt x="0" y="1502092"/>
                  </a:lnTo>
                  <a:close/>
                </a:path>
              </a:pathLst>
            </a:custGeom>
            <a:ln w="19049">
              <a:solidFill>
                <a:srgbClr val="E6DE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7874" y="6831012"/>
            <a:ext cx="256032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5" dirty="0">
                <a:solidFill>
                  <a:srgbClr val="4B4B4B"/>
                </a:solidFill>
                <a:latin typeface="Cambria"/>
                <a:cs typeface="Cambria"/>
              </a:rPr>
              <a:t>Preprocessing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Missing 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value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handling,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outlier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checks,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normalization.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67174" y="6657974"/>
            <a:ext cx="3312160" cy="1588135"/>
            <a:chOff x="4067174" y="6657974"/>
            <a:chExt cx="3312160" cy="1588135"/>
          </a:xfrm>
        </p:grpSpPr>
        <p:sp>
          <p:nvSpPr>
            <p:cNvPr id="16" name="object 16"/>
            <p:cNvSpPr/>
            <p:nvPr/>
          </p:nvSpPr>
          <p:spPr>
            <a:xfrm>
              <a:off x="4084304" y="6675104"/>
              <a:ext cx="3295015" cy="1570990"/>
            </a:xfrm>
            <a:custGeom>
              <a:avLst/>
              <a:gdLst/>
              <a:ahLst/>
              <a:cxnLst/>
              <a:rect l="l" t="t" r="r" b="b"/>
              <a:pathLst>
                <a:path w="3295015" h="1570990">
                  <a:moveTo>
                    <a:pt x="3283762" y="1544969"/>
                  </a:moveTo>
                  <a:lnTo>
                    <a:pt x="3225205" y="1544969"/>
                  </a:lnTo>
                  <a:lnTo>
                    <a:pt x="3231644" y="1543687"/>
                  </a:lnTo>
                  <a:lnTo>
                    <a:pt x="3244013" y="1538564"/>
                  </a:lnTo>
                  <a:lnTo>
                    <a:pt x="3267713" y="1507620"/>
                  </a:lnTo>
                  <a:lnTo>
                    <a:pt x="3268994" y="1501180"/>
                  </a:lnTo>
                  <a:lnTo>
                    <a:pt x="3268994" y="36182"/>
                  </a:lnTo>
                  <a:lnTo>
                    <a:pt x="3249473" y="2446"/>
                  </a:lnTo>
                  <a:lnTo>
                    <a:pt x="3245811" y="0"/>
                  </a:lnTo>
                  <a:lnTo>
                    <a:pt x="3250154" y="863"/>
                  </a:lnTo>
                  <a:lnTo>
                    <a:pt x="3282288" y="22335"/>
                  </a:lnTo>
                  <a:lnTo>
                    <a:pt x="3294592" y="55010"/>
                  </a:lnTo>
                  <a:lnTo>
                    <a:pt x="3294592" y="1514500"/>
                  </a:lnTo>
                  <a:lnTo>
                    <a:pt x="3286666" y="1540621"/>
                  </a:lnTo>
                  <a:lnTo>
                    <a:pt x="3283762" y="1544969"/>
                  </a:lnTo>
                  <a:close/>
                </a:path>
                <a:path w="3295015" h="1570990">
                  <a:moveTo>
                    <a:pt x="3238524" y="1570567"/>
                  </a:moveTo>
                  <a:lnTo>
                    <a:pt x="55010" y="1570567"/>
                  </a:lnTo>
                  <a:lnTo>
                    <a:pt x="51107" y="1570182"/>
                  </a:lnTo>
                  <a:lnTo>
                    <a:pt x="13732" y="1550205"/>
                  </a:lnTo>
                  <a:lnTo>
                    <a:pt x="0" y="1521786"/>
                  </a:lnTo>
                  <a:lnTo>
                    <a:pt x="2446" y="1525448"/>
                  </a:lnTo>
                  <a:lnTo>
                    <a:pt x="11913" y="1534916"/>
                  </a:lnTo>
                  <a:lnTo>
                    <a:pt x="17372" y="1538564"/>
                  </a:lnTo>
                  <a:lnTo>
                    <a:pt x="29742" y="1543687"/>
                  </a:lnTo>
                  <a:lnTo>
                    <a:pt x="36182" y="1544969"/>
                  </a:lnTo>
                  <a:lnTo>
                    <a:pt x="3283762" y="1544969"/>
                  </a:lnTo>
                  <a:lnTo>
                    <a:pt x="3282289" y="1547173"/>
                  </a:lnTo>
                  <a:lnTo>
                    <a:pt x="3250155" y="1568644"/>
                  </a:lnTo>
                  <a:lnTo>
                    <a:pt x="3242426" y="1570182"/>
                  </a:lnTo>
                  <a:lnTo>
                    <a:pt x="3238524" y="1570567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6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1" y="1552573"/>
                  </a:moveTo>
                  <a:lnTo>
                    <a:pt x="47167" y="1552573"/>
                  </a:lnTo>
                  <a:lnTo>
                    <a:pt x="43884" y="1552250"/>
                  </a:lnTo>
                  <a:lnTo>
                    <a:pt x="10349" y="1532892"/>
                  </a:lnTo>
                  <a:lnTo>
                    <a:pt x="0" y="1505406"/>
                  </a:lnTo>
                  <a:lnTo>
                    <a:pt x="0" y="1502091"/>
                  </a:lnTo>
                  <a:lnTo>
                    <a:pt x="0" y="47166"/>
                  </a:lnTo>
                  <a:lnTo>
                    <a:pt x="17130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8"/>
                  </a:lnTo>
                  <a:lnTo>
                    <a:pt x="3276600" y="47166"/>
                  </a:lnTo>
                  <a:lnTo>
                    <a:pt x="3276600" y="1505406"/>
                  </a:lnTo>
                  <a:lnTo>
                    <a:pt x="3259469" y="1540130"/>
                  </a:lnTo>
                  <a:lnTo>
                    <a:pt x="3232714" y="1552250"/>
                  </a:lnTo>
                  <a:lnTo>
                    <a:pt x="3229431" y="1552573"/>
                  </a:lnTo>
                  <a:close/>
                </a:path>
              </a:pathLst>
            </a:custGeom>
            <a:solidFill>
              <a:srgbClr val="FD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66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3"/>
                  </a:lnTo>
                  <a:lnTo>
                    <a:pt x="970" y="40632"/>
                  </a:lnTo>
                  <a:lnTo>
                    <a:pt x="1616" y="37381"/>
                  </a:lnTo>
                  <a:lnTo>
                    <a:pt x="2573" y="34224"/>
                  </a:lnTo>
                  <a:lnTo>
                    <a:pt x="14786" y="14785"/>
                  </a:lnTo>
                  <a:lnTo>
                    <a:pt x="17130" y="12441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70"/>
                  </a:lnTo>
                  <a:lnTo>
                    <a:pt x="3239216" y="1616"/>
                  </a:lnTo>
                  <a:lnTo>
                    <a:pt x="3261813" y="14785"/>
                  </a:lnTo>
                  <a:lnTo>
                    <a:pt x="3264157" y="17129"/>
                  </a:lnTo>
                  <a:lnTo>
                    <a:pt x="3266250" y="19678"/>
                  </a:lnTo>
                  <a:lnTo>
                    <a:pt x="3268091" y="22434"/>
                  </a:lnTo>
                  <a:lnTo>
                    <a:pt x="3269933" y="25190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1502092"/>
                  </a:lnTo>
                  <a:lnTo>
                    <a:pt x="3276600" y="1505406"/>
                  </a:lnTo>
                  <a:lnTo>
                    <a:pt x="3276276" y="1508689"/>
                  </a:lnTo>
                  <a:lnTo>
                    <a:pt x="3275630" y="1511940"/>
                  </a:lnTo>
                  <a:lnTo>
                    <a:pt x="3274983" y="1515191"/>
                  </a:lnTo>
                  <a:lnTo>
                    <a:pt x="3274025" y="1518347"/>
                  </a:lnTo>
                  <a:lnTo>
                    <a:pt x="3272757" y="1521409"/>
                  </a:lnTo>
                  <a:lnTo>
                    <a:pt x="3271488" y="1524471"/>
                  </a:lnTo>
                  <a:lnTo>
                    <a:pt x="3269933" y="1527381"/>
                  </a:lnTo>
                  <a:lnTo>
                    <a:pt x="3268091" y="1530137"/>
                  </a:lnTo>
                  <a:lnTo>
                    <a:pt x="3266250" y="1532893"/>
                  </a:lnTo>
                  <a:lnTo>
                    <a:pt x="3254162" y="1544065"/>
                  </a:lnTo>
                  <a:lnTo>
                    <a:pt x="3251406" y="1545907"/>
                  </a:lnTo>
                  <a:lnTo>
                    <a:pt x="3235965" y="1551603"/>
                  </a:lnTo>
                  <a:lnTo>
                    <a:pt x="3232714" y="1552251"/>
                  </a:lnTo>
                  <a:lnTo>
                    <a:pt x="3229431" y="1552574"/>
                  </a:lnTo>
                  <a:lnTo>
                    <a:pt x="3226117" y="1552574"/>
                  </a:lnTo>
                  <a:lnTo>
                    <a:pt x="50482" y="1552574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3"/>
                  </a:lnTo>
                  <a:lnTo>
                    <a:pt x="37382" y="1550956"/>
                  </a:lnTo>
                  <a:lnTo>
                    <a:pt x="22435" y="1544065"/>
                  </a:lnTo>
                  <a:lnTo>
                    <a:pt x="19679" y="1542224"/>
                  </a:lnTo>
                  <a:lnTo>
                    <a:pt x="3842" y="1521409"/>
                  </a:lnTo>
                  <a:lnTo>
                    <a:pt x="2573" y="1518347"/>
                  </a:lnTo>
                  <a:lnTo>
                    <a:pt x="1616" y="1515191"/>
                  </a:lnTo>
                  <a:lnTo>
                    <a:pt x="970" y="1511940"/>
                  </a:lnTo>
                  <a:lnTo>
                    <a:pt x="323" y="1508689"/>
                  </a:lnTo>
                  <a:lnTo>
                    <a:pt x="0" y="1505406"/>
                  </a:lnTo>
                  <a:lnTo>
                    <a:pt x="0" y="1502092"/>
                  </a:lnTo>
                  <a:close/>
                </a:path>
              </a:pathLst>
            </a:custGeom>
            <a:ln w="19049">
              <a:solidFill>
                <a:srgbClr val="E6DE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44975" y="6831012"/>
            <a:ext cx="2816860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0" dirty="0">
                <a:solidFill>
                  <a:srgbClr val="4B4B4B"/>
                </a:solidFill>
                <a:latin typeface="Cambria"/>
                <a:cs typeface="Cambria"/>
              </a:rPr>
              <a:t>Feature</a:t>
            </a:r>
            <a:r>
              <a:rPr sz="1650" spc="2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4B4B4B"/>
                </a:solidFill>
                <a:latin typeface="Cambria"/>
                <a:cs typeface="Cambria"/>
              </a:rPr>
              <a:t>Engineering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Selection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of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flow-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level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45" dirty="0">
                <a:solidFill>
                  <a:srgbClr val="4B4B4B"/>
                </a:solidFill>
                <a:latin typeface="Cambria"/>
                <a:cs typeface="Cambria"/>
              </a:rPr>
              <a:t>metrics;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optional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dimensionality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reduction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(PCA)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350" spc="114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visualisation.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34274" y="6657974"/>
            <a:ext cx="3312160" cy="1588135"/>
            <a:chOff x="7534274" y="6657974"/>
            <a:chExt cx="3312160" cy="1588135"/>
          </a:xfrm>
        </p:grpSpPr>
        <p:sp>
          <p:nvSpPr>
            <p:cNvPr id="21" name="object 21"/>
            <p:cNvSpPr/>
            <p:nvPr/>
          </p:nvSpPr>
          <p:spPr>
            <a:xfrm>
              <a:off x="7551405" y="6675104"/>
              <a:ext cx="3295015" cy="1570990"/>
            </a:xfrm>
            <a:custGeom>
              <a:avLst/>
              <a:gdLst/>
              <a:ahLst/>
              <a:cxnLst/>
              <a:rect l="l" t="t" r="r" b="b"/>
              <a:pathLst>
                <a:path w="3295015" h="1570990">
                  <a:moveTo>
                    <a:pt x="3283760" y="1544969"/>
                  </a:moveTo>
                  <a:lnTo>
                    <a:pt x="3225204" y="1544969"/>
                  </a:lnTo>
                  <a:lnTo>
                    <a:pt x="3231643" y="1543687"/>
                  </a:lnTo>
                  <a:lnTo>
                    <a:pt x="3244012" y="1538564"/>
                  </a:lnTo>
                  <a:lnTo>
                    <a:pt x="3267711" y="1507620"/>
                  </a:lnTo>
                  <a:lnTo>
                    <a:pt x="3268992" y="1501180"/>
                  </a:lnTo>
                  <a:lnTo>
                    <a:pt x="3268992" y="36182"/>
                  </a:lnTo>
                  <a:lnTo>
                    <a:pt x="3249472" y="2447"/>
                  </a:lnTo>
                  <a:lnTo>
                    <a:pt x="3245810" y="0"/>
                  </a:lnTo>
                  <a:lnTo>
                    <a:pt x="3250153" y="863"/>
                  </a:lnTo>
                  <a:lnTo>
                    <a:pt x="3282288" y="22335"/>
                  </a:lnTo>
                  <a:lnTo>
                    <a:pt x="3294591" y="55010"/>
                  </a:lnTo>
                  <a:lnTo>
                    <a:pt x="3294591" y="1514500"/>
                  </a:lnTo>
                  <a:lnTo>
                    <a:pt x="3286666" y="1540621"/>
                  </a:lnTo>
                  <a:lnTo>
                    <a:pt x="3283760" y="1544969"/>
                  </a:lnTo>
                  <a:close/>
                </a:path>
                <a:path w="3295015" h="1570990">
                  <a:moveTo>
                    <a:pt x="3238523" y="1570567"/>
                  </a:moveTo>
                  <a:lnTo>
                    <a:pt x="55009" y="1570567"/>
                  </a:lnTo>
                  <a:lnTo>
                    <a:pt x="51106" y="1570183"/>
                  </a:lnTo>
                  <a:lnTo>
                    <a:pt x="13730" y="1550205"/>
                  </a:lnTo>
                  <a:lnTo>
                    <a:pt x="0" y="1521788"/>
                  </a:lnTo>
                  <a:lnTo>
                    <a:pt x="2445" y="1525449"/>
                  </a:lnTo>
                  <a:lnTo>
                    <a:pt x="11912" y="1534916"/>
                  </a:lnTo>
                  <a:lnTo>
                    <a:pt x="17371" y="1538564"/>
                  </a:lnTo>
                  <a:lnTo>
                    <a:pt x="29741" y="1543687"/>
                  </a:lnTo>
                  <a:lnTo>
                    <a:pt x="36181" y="1544969"/>
                  </a:lnTo>
                  <a:lnTo>
                    <a:pt x="3283760" y="1544969"/>
                  </a:lnTo>
                  <a:lnTo>
                    <a:pt x="3282287" y="1547174"/>
                  </a:lnTo>
                  <a:lnTo>
                    <a:pt x="3250152" y="1568644"/>
                  </a:lnTo>
                  <a:lnTo>
                    <a:pt x="3242424" y="1570183"/>
                  </a:lnTo>
                  <a:lnTo>
                    <a:pt x="3238523" y="1570567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437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3229431" y="1552573"/>
                  </a:moveTo>
                  <a:lnTo>
                    <a:pt x="47167" y="1552573"/>
                  </a:lnTo>
                  <a:lnTo>
                    <a:pt x="43884" y="1552250"/>
                  </a:lnTo>
                  <a:lnTo>
                    <a:pt x="10348" y="1532892"/>
                  </a:lnTo>
                  <a:lnTo>
                    <a:pt x="0" y="1505406"/>
                  </a:lnTo>
                  <a:lnTo>
                    <a:pt x="0" y="1502091"/>
                  </a:lnTo>
                  <a:lnTo>
                    <a:pt x="0" y="47166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6" y="17128"/>
                  </a:lnTo>
                  <a:lnTo>
                    <a:pt x="3276598" y="47166"/>
                  </a:lnTo>
                  <a:lnTo>
                    <a:pt x="3276598" y="1505406"/>
                  </a:lnTo>
                  <a:lnTo>
                    <a:pt x="3259470" y="1540130"/>
                  </a:lnTo>
                  <a:lnTo>
                    <a:pt x="3232714" y="1552250"/>
                  </a:lnTo>
                  <a:lnTo>
                    <a:pt x="3229431" y="1552573"/>
                  </a:lnTo>
                  <a:close/>
                </a:path>
              </a:pathLst>
            </a:custGeom>
            <a:solidFill>
              <a:srgbClr val="FD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43799" y="6667499"/>
              <a:ext cx="3276600" cy="1552575"/>
            </a:xfrm>
            <a:custGeom>
              <a:avLst/>
              <a:gdLst/>
              <a:ahLst/>
              <a:cxnLst/>
              <a:rect l="l" t="t" r="r" b="b"/>
              <a:pathLst>
                <a:path w="3276600" h="1552575">
                  <a:moveTo>
                    <a:pt x="0" y="15020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3"/>
                  </a:lnTo>
                  <a:lnTo>
                    <a:pt x="969" y="40632"/>
                  </a:lnTo>
                  <a:lnTo>
                    <a:pt x="1616" y="37381"/>
                  </a:lnTo>
                  <a:lnTo>
                    <a:pt x="2573" y="34224"/>
                  </a:lnTo>
                  <a:lnTo>
                    <a:pt x="3842" y="31162"/>
                  </a:lnTo>
                  <a:lnTo>
                    <a:pt x="5110" y="28099"/>
                  </a:lnTo>
                  <a:lnTo>
                    <a:pt x="6665" y="25190"/>
                  </a:lnTo>
                  <a:lnTo>
                    <a:pt x="8507" y="22434"/>
                  </a:lnTo>
                  <a:lnTo>
                    <a:pt x="10348" y="19678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6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35965" y="970"/>
                  </a:lnTo>
                  <a:lnTo>
                    <a:pt x="3239216" y="1616"/>
                  </a:lnTo>
                  <a:lnTo>
                    <a:pt x="3261813" y="14785"/>
                  </a:lnTo>
                  <a:lnTo>
                    <a:pt x="3264156" y="17129"/>
                  </a:lnTo>
                  <a:lnTo>
                    <a:pt x="3266249" y="19678"/>
                  </a:lnTo>
                  <a:lnTo>
                    <a:pt x="3268089" y="22434"/>
                  </a:lnTo>
                  <a:lnTo>
                    <a:pt x="3269932" y="25190"/>
                  </a:lnTo>
                  <a:lnTo>
                    <a:pt x="3276599" y="50482"/>
                  </a:lnTo>
                  <a:lnTo>
                    <a:pt x="3276599" y="1502092"/>
                  </a:lnTo>
                  <a:lnTo>
                    <a:pt x="3276598" y="1505406"/>
                  </a:lnTo>
                  <a:lnTo>
                    <a:pt x="3276275" y="1508689"/>
                  </a:lnTo>
                  <a:lnTo>
                    <a:pt x="3275628" y="1511940"/>
                  </a:lnTo>
                  <a:lnTo>
                    <a:pt x="3274982" y="1515191"/>
                  </a:lnTo>
                  <a:lnTo>
                    <a:pt x="3254163" y="1544065"/>
                  </a:lnTo>
                  <a:lnTo>
                    <a:pt x="3251407" y="1545907"/>
                  </a:lnTo>
                  <a:lnTo>
                    <a:pt x="3248496" y="1547462"/>
                  </a:lnTo>
                  <a:lnTo>
                    <a:pt x="3245434" y="1548730"/>
                  </a:lnTo>
                  <a:lnTo>
                    <a:pt x="3242372" y="1549999"/>
                  </a:lnTo>
                  <a:lnTo>
                    <a:pt x="3239216" y="1550956"/>
                  </a:lnTo>
                  <a:lnTo>
                    <a:pt x="3235963" y="1551603"/>
                  </a:lnTo>
                  <a:lnTo>
                    <a:pt x="3232714" y="1552251"/>
                  </a:lnTo>
                  <a:lnTo>
                    <a:pt x="3229431" y="1552574"/>
                  </a:lnTo>
                  <a:lnTo>
                    <a:pt x="3226116" y="1552574"/>
                  </a:lnTo>
                  <a:lnTo>
                    <a:pt x="50482" y="1552574"/>
                  </a:lnTo>
                  <a:lnTo>
                    <a:pt x="47167" y="1552574"/>
                  </a:lnTo>
                  <a:lnTo>
                    <a:pt x="43884" y="1552251"/>
                  </a:lnTo>
                  <a:lnTo>
                    <a:pt x="40633" y="1551603"/>
                  </a:lnTo>
                  <a:lnTo>
                    <a:pt x="37382" y="1550956"/>
                  </a:lnTo>
                  <a:lnTo>
                    <a:pt x="34225" y="1549999"/>
                  </a:lnTo>
                  <a:lnTo>
                    <a:pt x="31163" y="1548730"/>
                  </a:lnTo>
                  <a:lnTo>
                    <a:pt x="28100" y="1547462"/>
                  </a:lnTo>
                  <a:lnTo>
                    <a:pt x="25191" y="1545907"/>
                  </a:lnTo>
                  <a:lnTo>
                    <a:pt x="22435" y="1544065"/>
                  </a:lnTo>
                  <a:lnTo>
                    <a:pt x="19679" y="1542224"/>
                  </a:lnTo>
                  <a:lnTo>
                    <a:pt x="8507" y="1530137"/>
                  </a:lnTo>
                  <a:lnTo>
                    <a:pt x="6665" y="1527381"/>
                  </a:lnTo>
                  <a:lnTo>
                    <a:pt x="5110" y="1524471"/>
                  </a:lnTo>
                  <a:lnTo>
                    <a:pt x="3842" y="1521409"/>
                  </a:lnTo>
                  <a:lnTo>
                    <a:pt x="2573" y="1518347"/>
                  </a:lnTo>
                  <a:lnTo>
                    <a:pt x="1616" y="1515191"/>
                  </a:lnTo>
                  <a:lnTo>
                    <a:pt x="969" y="1511940"/>
                  </a:lnTo>
                  <a:lnTo>
                    <a:pt x="323" y="1508689"/>
                  </a:lnTo>
                  <a:lnTo>
                    <a:pt x="0" y="1505406"/>
                  </a:lnTo>
                  <a:lnTo>
                    <a:pt x="0" y="1502092"/>
                  </a:lnTo>
                  <a:close/>
                </a:path>
              </a:pathLst>
            </a:custGeom>
            <a:ln w="19049">
              <a:solidFill>
                <a:srgbClr val="E6DE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12075" y="6831012"/>
            <a:ext cx="2447290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4B4B4B"/>
                </a:solidFill>
                <a:latin typeface="Cambria"/>
                <a:cs typeface="Cambria"/>
              </a:rPr>
              <a:t>Evaluation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Silhouette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analysis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 visual inspection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guide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45" dirty="0">
                <a:solidFill>
                  <a:srgbClr val="4B4B4B"/>
                </a:solidFill>
                <a:latin typeface="Cambria"/>
                <a:cs typeface="Cambria"/>
              </a:rPr>
              <a:t>cluster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interpretation.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25" name="object 2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196833"/>
            <a:ext cx="1754504" cy="419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9D202A2-44F1-487E-73D1-83201996221A}"/>
              </a:ext>
            </a:extLst>
          </p:cNvPr>
          <p:cNvSpPr/>
          <p:nvPr/>
        </p:nvSpPr>
        <p:spPr>
          <a:xfrm>
            <a:off x="9567718" y="8216915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170" dirty="0"/>
              <a:t>Implementation</a:t>
            </a:r>
            <a:r>
              <a:rPr spc="5" dirty="0"/>
              <a:t> </a:t>
            </a:r>
            <a:r>
              <a:rPr spc="250" dirty="0"/>
              <a:t>&amp;</a:t>
            </a:r>
            <a:r>
              <a:rPr spc="5" dirty="0"/>
              <a:t> </a:t>
            </a:r>
            <a:r>
              <a:rPr spc="105" dirty="0"/>
              <a:t>Results</a:t>
            </a:r>
            <a:r>
              <a:rPr spc="10" dirty="0"/>
              <a:t> </a:t>
            </a:r>
            <a:r>
              <a:rPr dirty="0"/>
              <a:t>—</a:t>
            </a:r>
            <a:r>
              <a:rPr spc="5" dirty="0"/>
              <a:t> </a:t>
            </a:r>
            <a:r>
              <a:rPr spc="140" dirty="0"/>
              <a:t>Pipeline</a:t>
            </a:r>
            <a:r>
              <a:rPr spc="10" dirty="0"/>
              <a:t> </a:t>
            </a:r>
            <a:r>
              <a:rPr spc="210" dirty="0"/>
              <a:t>and </a:t>
            </a:r>
            <a:r>
              <a:rPr spc="130" dirty="0"/>
              <a:t>Findings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3607" y="2627375"/>
            <a:ext cx="4761230" cy="1042669"/>
            <a:chOff x="673607" y="2627375"/>
            <a:chExt cx="4761230" cy="104266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8743" y="2627375"/>
              <a:ext cx="1005839" cy="1042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8247" y="2627375"/>
              <a:ext cx="1115567" cy="10332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655" y="2627375"/>
              <a:ext cx="1112519" cy="10332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2015" y="2627375"/>
              <a:ext cx="1115567" cy="10332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7" y="2627375"/>
              <a:ext cx="1161287" cy="104241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9430" y="3034115"/>
              <a:ext cx="254000" cy="229870"/>
            </a:xfrm>
            <a:custGeom>
              <a:avLst/>
              <a:gdLst/>
              <a:ahLst/>
              <a:cxnLst/>
              <a:rect l="l" t="t" r="r" b="b"/>
              <a:pathLst>
                <a:path w="254000" h="229870">
                  <a:moveTo>
                    <a:pt x="0" y="0"/>
                  </a:moveTo>
                  <a:lnTo>
                    <a:pt x="14" y="229318"/>
                  </a:lnTo>
                  <a:lnTo>
                    <a:pt x="253400" y="229313"/>
                  </a:lnTo>
                </a:path>
              </a:pathLst>
            </a:custGeom>
            <a:ln w="11289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3607" y="3053605"/>
              <a:ext cx="223571" cy="1684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6361" y="3051804"/>
              <a:ext cx="264644" cy="1938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28776" y="3023596"/>
              <a:ext cx="264776" cy="250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8521" y="3016462"/>
              <a:ext cx="230784" cy="2646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0071" y="3016145"/>
              <a:ext cx="242404" cy="264940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5962649" y="2619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62649" y="2952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62649" y="3562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/>
              <a:t>Results (actual run)</a:t>
            </a:r>
          </a:p>
          <a:p>
            <a:pPr marL="286385">
              <a:lnSpc>
                <a:spcPct val="100000"/>
              </a:lnSpc>
              <a:spcBef>
                <a:spcPts val="1695"/>
              </a:spcBef>
            </a:pPr>
            <a:r>
              <a:rPr sz="1350" b="1" dirty="0">
                <a:solidFill>
                  <a:srgbClr val="4B4B4B"/>
                </a:solidFill>
              </a:rPr>
              <a:t>K-Means (k = 8): </a:t>
            </a:r>
            <a:r>
              <a:rPr sz="1350" dirty="0">
                <a:solidFill>
                  <a:srgbClr val="4B4B4B"/>
                </a:solidFill>
              </a:rPr>
              <a:t>silhouette 0.457, Davies–Bouldin 0.867, purity 92.1%, ARI 0.505</a:t>
            </a:r>
            <a:endParaRPr sz="1350"/>
          </a:p>
          <a:p>
            <a:pPr marL="286385">
              <a:lnSpc>
                <a:spcPct val="134300"/>
              </a:lnSpc>
              <a:spcBef>
                <a:spcPts val="450"/>
              </a:spcBef>
            </a:pPr>
            <a:r>
              <a:rPr sz="1350" b="1" dirty="0">
                <a:solidFill>
                  <a:srgbClr val="4B4B4B"/>
                </a:solidFill>
              </a:rPr>
              <a:t>Hierarchical (k = 8): </a:t>
            </a:r>
            <a:r>
              <a:rPr sz="1350" dirty="0">
                <a:solidFill>
                  <a:srgbClr val="4B4B4B"/>
                </a:solidFill>
              </a:rPr>
              <a:t>silhouette 0.435, Davies–Bouldin 1.053, purity 87.8%, ARI 0.416</a:t>
            </a:r>
            <a:endParaRPr sz="1350"/>
          </a:p>
          <a:p>
            <a:pPr marL="286385">
              <a:lnSpc>
                <a:spcPct val="134300"/>
              </a:lnSpc>
              <a:spcBef>
                <a:spcPts val="450"/>
              </a:spcBef>
            </a:pPr>
            <a:r>
              <a:rPr sz="1350" dirty="0">
                <a:solidFill>
                  <a:srgbClr val="4B4B4B"/>
                </a:solidFill>
              </a:rPr>
              <a:t>K-Means edges out Hierarchical on every metric; full plots and the metric table follow on the next slides.</a:t>
            </a:r>
            <a:endParaRPr sz="1350"/>
          </a:p>
        </p:txBody>
      </p:sp>
      <p:sp>
        <p:nvSpPr>
          <p:cNvPr id="18" name="object 18"/>
          <p:cNvSpPr txBox="1"/>
          <p:nvPr/>
        </p:nvSpPr>
        <p:spPr>
          <a:xfrm>
            <a:off x="987436" y="3929219"/>
            <a:ext cx="13633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69644" algn="l"/>
              </a:tabLst>
            </a:pPr>
            <a:r>
              <a:rPr sz="900" spc="-10" dirty="0">
                <a:solidFill>
                  <a:srgbClr val="4B4B4B"/>
                </a:solidFill>
                <a:latin typeface="Cambria"/>
                <a:cs typeface="Cambria"/>
              </a:rPr>
              <a:t>Dataset</a:t>
            </a:r>
            <a:r>
              <a:rPr sz="900" dirty="0">
                <a:solidFill>
                  <a:srgbClr val="4B4B4B"/>
                </a:solidFill>
                <a:latin typeface="Cambria"/>
                <a:cs typeface="Cambria"/>
              </a:rPr>
              <a:t>	</a:t>
            </a:r>
            <a:r>
              <a:rPr sz="900" spc="-10" dirty="0">
                <a:solidFill>
                  <a:srgbClr val="4B4B4B"/>
                </a:solidFill>
                <a:latin typeface="Cambria"/>
                <a:cs typeface="Cambria"/>
              </a:rPr>
              <a:t>Python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6660" y="3848130"/>
            <a:ext cx="716915" cy="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025" marR="5080" indent="-314960">
              <a:lnSpc>
                <a:spcPct val="107200"/>
              </a:lnSpc>
              <a:spcBef>
                <a:spcPts val="100"/>
              </a:spcBef>
            </a:pPr>
            <a:r>
              <a:rPr sz="900" spc="-10" dirty="0">
                <a:solidFill>
                  <a:srgbClr val="4B4B4B"/>
                </a:solidFill>
                <a:latin typeface="Cambria"/>
                <a:cs typeface="Cambria"/>
              </a:rPr>
              <a:t>Preprocessin</a:t>
            </a:r>
            <a:r>
              <a:rPr sz="900" spc="50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900" spc="-50" dirty="0">
                <a:solidFill>
                  <a:srgbClr val="4B4B4B"/>
                </a:solidFill>
                <a:latin typeface="Cambria"/>
                <a:cs typeface="Cambria"/>
              </a:rPr>
              <a:t>g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16327" y="3929219"/>
            <a:ext cx="1580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9315" algn="l"/>
              </a:tabLst>
            </a:pPr>
            <a:r>
              <a:rPr sz="900" spc="-10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900" dirty="0">
                <a:solidFill>
                  <a:srgbClr val="4B4B4B"/>
                </a:solidFill>
                <a:latin typeface="Cambria"/>
                <a:cs typeface="Cambria"/>
              </a:rPr>
              <a:t>	</a:t>
            </a:r>
            <a:r>
              <a:rPr sz="900" spc="-10" dirty="0">
                <a:solidFill>
                  <a:srgbClr val="4B4B4B"/>
                </a:solidFill>
                <a:latin typeface="Cambria"/>
                <a:cs typeface="Cambria"/>
              </a:rPr>
              <a:t>Visualization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374" y="4548632"/>
            <a:ext cx="4801870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900"/>
              </a:lnSpc>
              <a:spcBef>
                <a:spcPts val="95"/>
              </a:spcBef>
            </a:pP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Implemented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in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Python: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data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ingestion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from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CSV,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preprocessing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routines,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scikit-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learn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modules,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PCA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for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2D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projection,</a:t>
            </a:r>
            <a:r>
              <a:rPr sz="1050" spc="1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0" dirty="0">
                <a:solidFill>
                  <a:srgbClr val="4B4B4B"/>
                </a:solidFill>
                <a:latin typeface="Cambria"/>
                <a:cs typeface="Cambria"/>
              </a:rPr>
              <a:t>silhouette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computation.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All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80" dirty="0">
                <a:solidFill>
                  <a:srgbClr val="4B4B4B"/>
                </a:solidFill>
                <a:latin typeface="Cambria"/>
                <a:cs typeface="Cambria"/>
              </a:rPr>
              <a:t>numeric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0" dirty="0">
                <a:solidFill>
                  <a:srgbClr val="4B4B4B"/>
                </a:solidFill>
                <a:latin typeface="Cambria"/>
                <a:cs typeface="Cambria"/>
              </a:rPr>
              <a:t>results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are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measured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5" dirty="0">
                <a:solidFill>
                  <a:srgbClr val="4B4B4B"/>
                </a:solidFill>
                <a:latin typeface="Cambria"/>
                <a:cs typeface="Cambria"/>
              </a:rPr>
              <a:t>on the real CICIDS2017 sample used for this run.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34073" y="4190999"/>
            <a:ext cx="4905375" cy="1485900"/>
            <a:chOff x="5934073" y="4190999"/>
            <a:chExt cx="4905375" cy="1485900"/>
          </a:xfrm>
        </p:grpSpPr>
        <p:sp>
          <p:nvSpPr>
            <p:cNvPr id="25" name="object 25"/>
            <p:cNvSpPr/>
            <p:nvPr/>
          </p:nvSpPr>
          <p:spPr>
            <a:xfrm>
              <a:off x="5934073" y="4190999"/>
              <a:ext cx="4905375" cy="1485900"/>
            </a:xfrm>
            <a:custGeom>
              <a:avLst/>
              <a:gdLst/>
              <a:ahLst/>
              <a:cxnLst/>
              <a:rect l="l" t="t" r="r" b="b"/>
              <a:pathLst>
                <a:path w="4905375" h="1485900">
                  <a:moveTo>
                    <a:pt x="4849307" y="1485899"/>
                  </a:moveTo>
                  <a:lnTo>
                    <a:pt x="56067" y="1485899"/>
                  </a:lnTo>
                  <a:lnTo>
                    <a:pt x="52164" y="1485514"/>
                  </a:lnTo>
                  <a:lnTo>
                    <a:pt x="14789" y="1465537"/>
                  </a:lnTo>
                  <a:lnTo>
                    <a:pt x="0" y="1429832"/>
                  </a:lnTo>
                  <a:lnTo>
                    <a:pt x="0" y="14258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4849307" y="0"/>
                  </a:lnTo>
                  <a:lnTo>
                    <a:pt x="4885012" y="14789"/>
                  </a:lnTo>
                  <a:lnTo>
                    <a:pt x="4904990" y="52165"/>
                  </a:lnTo>
                  <a:lnTo>
                    <a:pt x="4905375" y="56067"/>
                  </a:lnTo>
                  <a:lnTo>
                    <a:pt x="4905375" y="1429832"/>
                  </a:lnTo>
                  <a:lnTo>
                    <a:pt x="4890585" y="1465537"/>
                  </a:lnTo>
                  <a:lnTo>
                    <a:pt x="4853208" y="1485514"/>
                  </a:lnTo>
                  <a:lnTo>
                    <a:pt x="4849307" y="1485899"/>
                  </a:lnTo>
                  <a:close/>
                </a:path>
              </a:pathLst>
            </a:custGeom>
            <a:solidFill>
              <a:srgbClr val="E7E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37671" y="4468415"/>
              <a:ext cx="150018" cy="15001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478140" y="4345939"/>
            <a:ext cx="3857625" cy="1111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4450">
              <a:lnSpc>
                <a:spcPct val="132700"/>
              </a:lnSpc>
              <a:spcBef>
                <a:spcPts val="50"/>
              </a:spcBef>
            </a:pPr>
            <a:r>
              <a:rPr sz="1350" dirty="0">
                <a:latin typeface="Cambria"/>
                <a:cs typeface="Cambria"/>
              </a:rPr>
              <a:t>PCA cluster scatter plots, the elbow/silhouette curve, the dendrogram, and the full metric table are presented on the following three slides.</a:t>
            </a:r>
          </a:p>
        </p:txBody>
      </p:sp>
      <p:pic>
        <p:nvPicPr>
          <p:cNvPr id="28" name="object 28">
            <a:hlinkClick r:id="rId13"/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2C47CAD-AED9-B0E4-FB9C-3BEEC1CB1522}"/>
              </a:ext>
            </a:extLst>
          </p:cNvPr>
          <p:cNvSpPr/>
          <p:nvPr/>
        </p:nvSpPr>
        <p:spPr>
          <a:xfrm>
            <a:off x="9661396" y="5970206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1430000" cy="9442450"/>
          </a:xfrm>
          <a:prstGeom prst="rect">
            <a:avLst/>
          </a:pr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/>
              <a:t>Results — PCA Cluster Visualizations</a:t>
            </a:r>
          </a:p>
        </p:txBody>
      </p:sp>
      <p:pic>
        <p:nvPicPr>
          <p:cNvPr id="4" name="kmeans plo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00000"/>
            <a:ext cx="5120640" cy="3840480"/>
          </a:xfrm>
          <a:prstGeom prst="rect">
            <a:avLst/>
          </a:prstGeom>
          <a:ln w="9525">
            <a:solidFill>
              <a:srgbClr val="E7E6E3"/>
            </a:solidFill>
          </a:ln>
        </p:spPr>
      </p:pic>
      <p:pic>
        <p:nvPicPr>
          <p:cNvPr id="5" name="hierarchical pl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2160" y="1800000"/>
            <a:ext cx="5120640" cy="3840480"/>
          </a:xfrm>
          <a:prstGeom prst="rect">
            <a:avLst/>
          </a:prstGeom>
          <a:ln w="9525">
            <a:solidFill>
              <a:srgbClr val="E7E6E3"/>
            </a:solidFill>
          </a:ln>
        </p:spPr>
      </p:pic>
      <p:sp>
        <p:nvSpPr>
          <p:cNvPr id="6" name="cap1"/>
          <p:cNvSpPr txBox="1"/>
          <p:nvPr/>
        </p:nvSpPr>
        <p:spPr>
          <a:xfrm>
            <a:off x="457200" y="5731920"/>
            <a:ext cx="5120640" cy="27432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/>
            <a:r>
              <a:rPr sz="1200" b="1" dirty="0">
                <a:solidFill>
                  <a:srgbClr val="3A3A3A"/>
                </a:solidFill>
                <a:latin typeface="Cambria"/>
                <a:cs typeface="Cambria"/>
              </a:rPr>
              <a:t>K-Means (k = 8)</a:t>
            </a:r>
          </a:p>
        </p:txBody>
      </p:sp>
      <p:sp>
        <p:nvSpPr>
          <p:cNvPr id="7" name="cap2"/>
          <p:cNvSpPr txBox="1"/>
          <p:nvPr/>
        </p:nvSpPr>
        <p:spPr>
          <a:xfrm>
            <a:off x="5852160" y="5731920"/>
            <a:ext cx="5120640" cy="27432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/>
            <a:r>
              <a:rPr sz="1200" b="1" dirty="0">
                <a:solidFill>
                  <a:srgbClr val="3A3A3A"/>
                </a:solidFill>
                <a:latin typeface="Cambria"/>
                <a:cs typeface="Cambria"/>
              </a:rPr>
              <a:t>Hierarchical (k = 8)</a:t>
            </a:r>
          </a:p>
        </p:txBody>
      </p:sp>
      <p:sp>
        <p:nvSpPr>
          <p:cNvPr id="8" name="summary"/>
          <p:cNvSpPr/>
          <p:nvPr/>
        </p:nvSpPr>
        <p:spPr>
          <a:xfrm>
            <a:off x="457200" y="6189120"/>
            <a:ext cx="10515600" cy="1500000"/>
          </a:xfrm>
          <a:prstGeom prst="roundRect">
            <a:avLst>
              <a:gd name="adj" fmla="val 3000"/>
            </a:avLst>
          </a:prstGeom>
          <a:solidFill>
            <a:srgbClr val="E7E6E3"/>
          </a:solidFill>
        </p:spPr>
        <p:txBody>
          <a:bodyPr wrap="square" lIns="182880" tIns="137160" rIns="182880" bIns="137160" rtlCol="0" anchor="ctr"/>
          <a:lstStyle/>
          <a:p>
            <a:pPr>
              <a:lnSpc>
                <a:spcPct val="130000"/>
              </a:lnSpc>
            </a:pP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Both methods project the same preprocessed flow features onto two principal components. K-Means produces tighter, more balanced partitions across the traffic, while Hierarchical isolates several small, high-purity clusters but leaves more points in ambiguous transitional groups.</a:t>
            </a:r>
          </a:p>
        </p:txBody>
      </p:sp>
      <p:pic>
        <p:nvPicPr>
          <p:cNvPr id="9" name="gamma badge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8922257"/>
            <a:ext cx="1754504" cy="419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11E3F5-855F-679A-4BEF-8AD2ABC0F010}"/>
              </a:ext>
            </a:extLst>
          </p:cNvPr>
          <p:cNvSpPr/>
          <p:nvPr/>
        </p:nvSpPr>
        <p:spPr>
          <a:xfrm>
            <a:off x="9580244" y="8953387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1430000" cy="9442450"/>
          </a:xfrm>
          <a:prstGeom prst="rect">
            <a:avLst/>
          </a:pr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/>
              <a:t>Results — Selecting k and Cluster Structure</a:t>
            </a:r>
          </a:p>
        </p:txBody>
      </p:sp>
      <p:pic>
        <p:nvPicPr>
          <p:cNvPr id="4" name="k selection plo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000" y="1800000"/>
            <a:ext cx="9240000" cy="3300000"/>
          </a:xfrm>
          <a:prstGeom prst="rect">
            <a:avLst/>
          </a:prstGeom>
          <a:ln w="9525">
            <a:solidFill>
              <a:srgbClr val="E7E6E3"/>
            </a:solidFill>
          </a:ln>
        </p:spPr>
      </p:pic>
      <p:sp>
        <p:nvSpPr>
          <p:cNvPr id="5" name="cap1"/>
          <p:cNvSpPr txBox="1"/>
          <p:nvPr/>
        </p:nvSpPr>
        <p:spPr>
          <a:xfrm>
            <a:off x="457200" y="5160000"/>
            <a:ext cx="10515600" cy="24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/>
            <a:r>
              <a:rPr sz="1150" i="1" dirty="0">
                <a:solidFill>
                  <a:srgbClr val="4B4B4B"/>
                </a:solidFill>
                <a:latin typeface="Cambria"/>
                <a:cs typeface="Cambria"/>
              </a:rPr>
              <a:t>Elbow curve and silhouette score across k = 2 to 8 — silhouette peaks at k = 8</a:t>
            </a:r>
          </a:p>
        </p:txBody>
      </p:sp>
      <p:pic>
        <p:nvPicPr>
          <p:cNvPr id="6" name="dendrogram pl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000" y="5460000"/>
            <a:ext cx="6600000" cy="3300000"/>
          </a:xfrm>
          <a:prstGeom prst="rect">
            <a:avLst/>
          </a:prstGeom>
          <a:ln w="9525">
            <a:solidFill>
              <a:srgbClr val="E7E6E3"/>
            </a:solidFill>
          </a:ln>
        </p:spPr>
      </p:pic>
      <p:sp>
        <p:nvSpPr>
          <p:cNvPr id="7" name="cap2"/>
          <p:cNvSpPr txBox="1"/>
          <p:nvPr/>
        </p:nvSpPr>
        <p:spPr>
          <a:xfrm>
            <a:off x="457200" y="8820000"/>
            <a:ext cx="10515600" cy="24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/>
            <a:r>
              <a:rPr sz="1150" i="1" dirty="0">
                <a:solidFill>
                  <a:srgbClr val="4B4B4B"/>
                </a:solidFill>
                <a:latin typeface="Cambria"/>
                <a:cs typeface="Cambria"/>
              </a:rPr>
              <a:t>Hierarchical dendrogram (sample) — large early merge distances support cutting the tree at k = 8</a:t>
            </a:r>
          </a:p>
        </p:txBody>
      </p:sp>
      <p:pic>
        <p:nvPicPr>
          <p:cNvPr id="8" name="gamma badge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8922257"/>
            <a:ext cx="1754504" cy="419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44CBB5-9E8E-5DE0-95C1-77E257684731}"/>
              </a:ext>
            </a:extLst>
          </p:cNvPr>
          <p:cNvSpPr/>
          <p:nvPr/>
        </p:nvSpPr>
        <p:spPr>
          <a:xfrm>
            <a:off x="9566674" y="8970505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1430000" cy="9442450"/>
          </a:xfrm>
          <a:prstGeom prst="rect">
            <a:avLst/>
          </a:pr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/>
              <a:t>Results — Quantitative Comparison</a:t>
            </a:r>
          </a:p>
        </p:txBody>
      </p:sp>
      <p:graphicFrame>
        <p:nvGraphicFramePr>
          <p:cNvPr id="10" name="Table 1"/>
          <p:cNvGraphicFramePr>
            <a:graphicFrameLocks noGrp="1"/>
          </p:cNvGraphicFramePr>
          <p:nvPr/>
        </p:nvGraphicFramePr>
        <p:xfrm>
          <a:off x="457200" y="2000000"/>
          <a:ext cx="105156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Method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k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Silhouette Score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Davies-Bouldin Index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Cluster Purity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Adjusted Rand Index</a:t>
                      </a:r>
                    </a:p>
                  </a:txBody>
                  <a:tcPr marT="30000" marB="30000" anchor="ctr"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K-Means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0.457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0.867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92.1%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3A3A"/>
                          </a:solidFill>
                          <a:latin typeface="Cambria"/>
                        </a:rPr>
                        <a:t>0.505</a:t>
                      </a:r>
                    </a:p>
                  </a:txBody>
                  <a:tcPr marT="30000" marB="30000" anchor="ctr">
                    <a:solidFill>
                      <a:srgbClr val="F3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Hierarchical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0.435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1.053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87.8%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B4B4B"/>
                          </a:solidFill>
                          <a:latin typeface="Cambria"/>
                        </a:rPr>
                        <a:t>0.416</a:t>
                      </a:r>
                    </a:p>
                  </a:txBody>
                  <a:tcPr marT="30000" marB="30000" anchor="ctr">
                    <a:solidFill>
                      <a:srgbClr val="FD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summary"/>
          <p:cNvSpPr/>
          <p:nvPr/>
        </p:nvSpPr>
        <p:spPr>
          <a:xfrm>
            <a:off x="457200" y="4400000"/>
            <a:ext cx="10515600" cy="1750000"/>
          </a:xfrm>
          <a:prstGeom prst="roundRect">
            <a:avLst>
              <a:gd name="adj" fmla="val 3000"/>
            </a:avLst>
          </a:prstGeom>
          <a:solidFill>
            <a:srgbClr val="E7E6E3"/>
          </a:solidFill>
        </p:spPr>
        <p:txBody>
          <a:bodyPr wrap="square" lIns="182880" tIns="137160" rIns="182880" bIns="137160" rtlCol="0" anchor="ctr"/>
          <a:lstStyle/>
          <a:p>
            <a:pPr>
              <a:lnSpc>
                <a:spcPct val="128000"/>
              </a:lnSpc>
            </a:pP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K-Means (k = 8) attains the higher silhouette score, the lower Davies–Bouldin index, and the higher cluster purity, and its clusters align more closely with the CICIDS2017 ground-truth labels (Adjusted Rand Index 0.505 vs. 0.416). Hierarchical clustering still isolates several small, very pure attack-only leaves that K-Means tends to merge into larger groups — a useful secondary lens on the same traffic.</a:t>
            </a:r>
          </a:p>
        </p:txBody>
      </p:sp>
      <p:pic>
        <p:nvPicPr>
          <p:cNvPr id="21" name="label distribu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5000" y="6350000"/>
            <a:ext cx="5000000" cy="2500000"/>
          </a:xfrm>
          <a:prstGeom prst="rect">
            <a:avLst/>
          </a:prstGeom>
          <a:ln w="9525">
            <a:solidFill>
              <a:srgbClr val="E7E6E3"/>
            </a:solidFill>
          </a:ln>
        </p:spPr>
      </p:pic>
      <p:sp>
        <p:nvSpPr>
          <p:cNvPr id="22" name="cap3"/>
          <p:cNvSpPr txBox="1"/>
          <p:nvPr/>
        </p:nvSpPr>
        <p:spPr>
          <a:xfrm>
            <a:off x="457200" y="8910000"/>
            <a:ext cx="10515600" cy="3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/>
            <a:r>
              <a:rPr sz="1150" i="1" dirty="0">
                <a:solidFill>
                  <a:srgbClr val="4B4B4B"/>
                </a:solidFill>
                <a:latin typeface="Cambria"/>
                <a:cs typeface="Cambria"/>
              </a:rPr>
              <a:t>Traffic label distribution — dominated by normal and neptune (DoS) traffic, with a long tail of rarer attack types</a:t>
            </a:r>
          </a:p>
        </p:txBody>
      </p:sp>
      <p:pic>
        <p:nvPicPr>
          <p:cNvPr id="23" name="gamma badge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922257"/>
            <a:ext cx="1754504" cy="419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FB513D-CDD6-37FF-14FE-6DE1B16D96EB}"/>
              </a:ext>
            </a:extLst>
          </p:cNvPr>
          <p:cNvSpPr/>
          <p:nvPr/>
        </p:nvSpPr>
        <p:spPr>
          <a:xfrm>
            <a:off x="9638962" y="8941049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429750"/>
          </a:xfrm>
          <a:custGeom>
            <a:avLst/>
            <a:gdLst/>
            <a:ahLst/>
            <a:cxnLst/>
            <a:rect l="l" t="t" r="r" b="b"/>
            <a:pathLst>
              <a:path w="11430000" h="9429750">
                <a:moveTo>
                  <a:pt x="11429999" y="9429749"/>
                </a:moveTo>
                <a:lnTo>
                  <a:pt x="0" y="94297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9429749"/>
                </a:lnTo>
                <a:close/>
              </a:path>
            </a:pathLst>
          </a:custGeom>
          <a:solidFill>
            <a:srgbClr val="FD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63550"/>
            <a:ext cx="711454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60" dirty="0"/>
              <a:t>Conclusion</a:t>
            </a:r>
            <a:r>
              <a:rPr dirty="0"/>
              <a:t> </a:t>
            </a:r>
            <a:r>
              <a:rPr spc="250" dirty="0"/>
              <a:t>&amp;</a:t>
            </a:r>
            <a:r>
              <a:rPr dirty="0"/>
              <a:t> </a:t>
            </a:r>
            <a:r>
              <a:rPr spc="135" dirty="0"/>
              <a:t>Practical</a:t>
            </a:r>
            <a:r>
              <a:rPr spc="5" dirty="0"/>
              <a:t> </a:t>
            </a:r>
            <a:r>
              <a:rPr spc="135" dirty="0"/>
              <a:t>Implications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08919" y="1414237"/>
            <a:ext cx="1454785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750" spc="95" dirty="0">
                <a:solidFill>
                  <a:srgbClr val="4B4B4B"/>
                </a:solidFill>
                <a:latin typeface="Cambria"/>
                <a:cs typeface="Cambria"/>
              </a:rPr>
              <a:t>Raw</a:t>
            </a:r>
            <a:r>
              <a:rPr sz="1750" spc="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endParaRPr sz="1750">
              <a:latin typeface="Cambria"/>
              <a:cs typeface="Cambria"/>
            </a:endParaRPr>
          </a:p>
          <a:p>
            <a:pPr marL="12065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70" dirty="0">
                <a:solidFill>
                  <a:srgbClr val="4B4B4B"/>
                </a:solidFill>
                <a:latin typeface="Cambria"/>
                <a:cs typeface="Cambria"/>
              </a:rPr>
              <a:t>Capture</a:t>
            </a:r>
            <a:r>
              <a:rPr sz="1400" spc="4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4B4B4B"/>
                </a:solidFill>
                <a:latin typeface="Cambria"/>
                <a:cs typeface="Cambria"/>
              </a:rPr>
              <a:t>network </a:t>
            </a:r>
            <a:r>
              <a:rPr sz="1400" spc="80" dirty="0">
                <a:solidFill>
                  <a:srgbClr val="4B4B4B"/>
                </a:solidFill>
                <a:latin typeface="Cambria"/>
                <a:cs typeface="Cambria"/>
              </a:rPr>
              <a:t>flow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 records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6667" y="1374891"/>
            <a:ext cx="1526540" cy="9404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750" spc="7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r>
              <a:rPr sz="1750" spc="1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4B4B4B"/>
                </a:solidFill>
                <a:latin typeface="Cambria"/>
                <a:cs typeface="Cambria"/>
              </a:rPr>
              <a:t>Groups</a:t>
            </a:r>
            <a:endParaRPr sz="1750">
              <a:latin typeface="Cambria"/>
              <a:cs typeface="Cambria"/>
            </a:endParaRPr>
          </a:p>
          <a:p>
            <a:pPr marL="28575" marR="25400" algn="ctr">
              <a:lnSpc>
                <a:spcPct val="106000"/>
              </a:lnSpc>
              <a:spcBef>
                <a:spcPts val="630"/>
              </a:spcBef>
            </a:pPr>
            <a:r>
              <a:rPr sz="1400" spc="65" dirty="0">
                <a:solidFill>
                  <a:srgbClr val="4B4B4B"/>
                </a:solidFill>
                <a:latin typeface="Cambria"/>
                <a:cs typeface="Cambria"/>
              </a:rPr>
              <a:t>Identify</a:t>
            </a:r>
            <a:r>
              <a:rPr sz="140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4B4B4B"/>
                </a:solidFill>
                <a:latin typeface="Cambria"/>
                <a:cs typeface="Cambria"/>
              </a:rPr>
              <a:t>coherent </a:t>
            </a:r>
            <a:r>
              <a:rPr sz="1400" spc="40" dirty="0">
                <a:solidFill>
                  <a:srgbClr val="4B4B4B"/>
                </a:solidFill>
                <a:latin typeface="Cambria"/>
                <a:cs typeface="Cambria"/>
              </a:rPr>
              <a:t>clusters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143" y="2526791"/>
            <a:ext cx="9900285" cy="2362200"/>
            <a:chOff x="771143" y="2526791"/>
            <a:chExt cx="9900285" cy="2362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0423" y="2526791"/>
              <a:ext cx="838199" cy="11155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1311" y="3776471"/>
              <a:ext cx="838199" cy="11125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343" y="2526791"/>
              <a:ext cx="838199" cy="11155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799" y="3776471"/>
              <a:ext cx="835151" cy="11125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143" y="2990087"/>
              <a:ext cx="9899903" cy="1447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143" y="3197351"/>
              <a:ext cx="9899903" cy="10241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29160" y="2894866"/>
              <a:ext cx="138806" cy="1648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72623" y="2832361"/>
              <a:ext cx="253365" cy="222885"/>
            </a:xfrm>
            <a:custGeom>
              <a:avLst/>
              <a:gdLst/>
              <a:ahLst/>
              <a:cxnLst/>
              <a:rect l="l" t="t" r="r" b="b"/>
              <a:pathLst>
                <a:path w="253364" h="222885">
                  <a:moveTo>
                    <a:pt x="253272" y="64781"/>
                  </a:moveTo>
                  <a:lnTo>
                    <a:pt x="243327" y="110191"/>
                  </a:lnTo>
                  <a:lnTo>
                    <a:pt x="240737" y="136833"/>
                  </a:lnTo>
                  <a:lnTo>
                    <a:pt x="240695" y="142465"/>
                  </a:lnTo>
                </a:path>
                <a:path w="253364" h="222885">
                  <a:moveTo>
                    <a:pt x="0" y="64851"/>
                  </a:moveTo>
                  <a:lnTo>
                    <a:pt x="9248" y="109163"/>
                  </a:lnTo>
                  <a:lnTo>
                    <a:pt x="11751" y="146114"/>
                  </a:lnTo>
                  <a:lnTo>
                    <a:pt x="11610" y="154605"/>
                  </a:lnTo>
                  <a:lnTo>
                    <a:pt x="6071" y="199499"/>
                  </a:lnTo>
                  <a:lnTo>
                    <a:pt x="81" y="222709"/>
                  </a:lnTo>
                </a:path>
                <a:path w="253364" h="222885">
                  <a:moveTo>
                    <a:pt x="253272" y="64781"/>
                  </a:moveTo>
                  <a:lnTo>
                    <a:pt x="242421" y="62640"/>
                  </a:lnTo>
                  <a:lnTo>
                    <a:pt x="231032" y="60487"/>
                  </a:lnTo>
                  <a:lnTo>
                    <a:pt x="220224" y="58423"/>
                  </a:lnTo>
                  <a:lnTo>
                    <a:pt x="176357" y="41429"/>
                  </a:lnTo>
                  <a:lnTo>
                    <a:pt x="145387" y="17627"/>
                  </a:lnTo>
                  <a:lnTo>
                    <a:pt x="126318" y="0"/>
                  </a:lnTo>
                  <a:lnTo>
                    <a:pt x="113486" y="12243"/>
                  </a:lnTo>
                  <a:lnTo>
                    <a:pt x="83177" y="37301"/>
                  </a:lnTo>
                  <a:lnTo>
                    <a:pt x="47549" y="54265"/>
                  </a:lnTo>
                  <a:lnTo>
                    <a:pt x="23601" y="60836"/>
                  </a:lnTo>
                  <a:lnTo>
                    <a:pt x="0" y="64851"/>
                  </a:lnTo>
                </a:path>
              </a:pathLst>
            </a:custGeom>
            <a:ln w="174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4079" y="2789163"/>
              <a:ext cx="413951" cy="413951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613346" y="2756394"/>
            <a:ext cx="3910965" cy="1892935"/>
            <a:chOff x="4613346" y="2756394"/>
            <a:chExt cx="3910965" cy="1892935"/>
          </a:xfrm>
        </p:grpSpPr>
        <p:sp>
          <p:nvSpPr>
            <p:cNvPr id="17" name="object 17"/>
            <p:cNvSpPr/>
            <p:nvPr/>
          </p:nvSpPr>
          <p:spPr>
            <a:xfrm>
              <a:off x="4613346" y="4243816"/>
              <a:ext cx="372110" cy="396875"/>
            </a:xfrm>
            <a:custGeom>
              <a:avLst/>
              <a:gdLst/>
              <a:ahLst/>
              <a:cxnLst/>
              <a:rect l="l" t="t" r="r" b="b"/>
              <a:pathLst>
                <a:path w="372110" h="396875">
                  <a:moveTo>
                    <a:pt x="180478" y="127012"/>
                  </a:moveTo>
                  <a:lnTo>
                    <a:pt x="113676" y="127012"/>
                  </a:lnTo>
                  <a:lnTo>
                    <a:pt x="248820" y="73032"/>
                  </a:lnTo>
                  <a:lnTo>
                    <a:pt x="248201" y="69469"/>
                  </a:lnTo>
                  <a:lnTo>
                    <a:pt x="247813" y="65752"/>
                  </a:lnTo>
                  <a:lnTo>
                    <a:pt x="247813" y="61957"/>
                  </a:lnTo>
                  <a:lnTo>
                    <a:pt x="252680" y="37835"/>
                  </a:lnTo>
                  <a:lnTo>
                    <a:pt x="265955" y="18141"/>
                  </a:lnTo>
                  <a:lnTo>
                    <a:pt x="285648" y="4867"/>
                  </a:lnTo>
                  <a:lnTo>
                    <a:pt x="309771" y="0"/>
                  </a:lnTo>
                  <a:lnTo>
                    <a:pt x="333893" y="4867"/>
                  </a:lnTo>
                  <a:lnTo>
                    <a:pt x="353586" y="18141"/>
                  </a:lnTo>
                  <a:lnTo>
                    <a:pt x="358063" y="24782"/>
                  </a:lnTo>
                  <a:lnTo>
                    <a:pt x="309771" y="24782"/>
                  </a:lnTo>
                  <a:lnTo>
                    <a:pt x="295304" y="27705"/>
                  </a:lnTo>
                  <a:lnTo>
                    <a:pt x="283487" y="35673"/>
                  </a:lnTo>
                  <a:lnTo>
                    <a:pt x="275519" y="47490"/>
                  </a:lnTo>
                  <a:lnTo>
                    <a:pt x="272596" y="61957"/>
                  </a:lnTo>
                  <a:lnTo>
                    <a:pt x="272695" y="65752"/>
                  </a:lnTo>
                  <a:lnTo>
                    <a:pt x="294456" y="96033"/>
                  </a:lnTo>
                  <a:lnTo>
                    <a:pt x="258036" y="96033"/>
                  </a:lnTo>
                  <a:lnTo>
                    <a:pt x="180478" y="127012"/>
                  </a:lnTo>
                  <a:close/>
                </a:path>
                <a:path w="372110" h="396875">
                  <a:moveTo>
                    <a:pt x="358128" y="99131"/>
                  </a:moveTo>
                  <a:lnTo>
                    <a:pt x="311784" y="99131"/>
                  </a:lnTo>
                  <a:lnTo>
                    <a:pt x="313798" y="98976"/>
                  </a:lnTo>
                  <a:lnTo>
                    <a:pt x="315657" y="98667"/>
                  </a:lnTo>
                  <a:lnTo>
                    <a:pt x="328116" y="94252"/>
                  </a:lnTo>
                  <a:lnTo>
                    <a:pt x="337952" y="86178"/>
                  </a:lnTo>
                  <a:lnTo>
                    <a:pt x="344550" y="75099"/>
                  </a:lnTo>
                  <a:lnTo>
                    <a:pt x="346945" y="61957"/>
                  </a:lnTo>
                  <a:lnTo>
                    <a:pt x="344023" y="47490"/>
                  </a:lnTo>
                  <a:lnTo>
                    <a:pt x="336054" y="35673"/>
                  </a:lnTo>
                  <a:lnTo>
                    <a:pt x="324237" y="27705"/>
                  </a:lnTo>
                  <a:lnTo>
                    <a:pt x="309771" y="24782"/>
                  </a:lnTo>
                  <a:lnTo>
                    <a:pt x="358063" y="24782"/>
                  </a:lnTo>
                  <a:lnTo>
                    <a:pt x="366861" y="37835"/>
                  </a:lnTo>
                  <a:lnTo>
                    <a:pt x="371728" y="61957"/>
                  </a:lnTo>
                  <a:lnTo>
                    <a:pt x="366980" y="85785"/>
                  </a:lnTo>
                  <a:lnTo>
                    <a:pt x="358230" y="98976"/>
                  </a:lnTo>
                  <a:lnTo>
                    <a:pt x="358128" y="99131"/>
                  </a:lnTo>
                  <a:close/>
                </a:path>
                <a:path w="372110" h="396875">
                  <a:moveTo>
                    <a:pt x="297445" y="285313"/>
                  </a:moveTo>
                  <a:lnTo>
                    <a:pt x="222643" y="285313"/>
                  </a:lnTo>
                  <a:lnTo>
                    <a:pt x="230636" y="280139"/>
                  </a:lnTo>
                  <a:lnTo>
                    <a:pt x="239420" y="276213"/>
                  </a:lnTo>
                  <a:lnTo>
                    <a:pt x="248858" y="273682"/>
                  </a:lnTo>
                  <a:lnTo>
                    <a:pt x="258811" y="272689"/>
                  </a:lnTo>
                  <a:lnTo>
                    <a:pt x="285916" y="123837"/>
                  </a:lnTo>
                  <a:lnTo>
                    <a:pt x="286769" y="119500"/>
                  </a:lnTo>
                  <a:lnTo>
                    <a:pt x="278283" y="115310"/>
                  </a:lnTo>
                  <a:lnTo>
                    <a:pt x="270573" y="109916"/>
                  </a:lnTo>
                  <a:lnTo>
                    <a:pt x="263778" y="103446"/>
                  </a:lnTo>
                  <a:lnTo>
                    <a:pt x="258036" y="96033"/>
                  </a:lnTo>
                  <a:lnTo>
                    <a:pt x="294456" y="96033"/>
                  </a:lnTo>
                  <a:lnTo>
                    <a:pt x="296760" y="97350"/>
                  </a:lnTo>
                  <a:lnTo>
                    <a:pt x="303110" y="99131"/>
                  </a:lnTo>
                  <a:lnTo>
                    <a:pt x="358128" y="99131"/>
                  </a:lnTo>
                  <a:lnTo>
                    <a:pt x="354012" y="105337"/>
                  </a:lnTo>
                  <a:lnTo>
                    <a:pt x="334742" y="118688"/>
                  </a:lnTo>
                  <a:lnTo>
                    <a:pt x="311438" y="123837"/>
                  </a:lnTo>
                  <a:lnTo>
                    <a:pt x="311101" y="123837"/>
                  </a:lnTo>
                  <a:lnTo>
                    <a:pt x="283206" y="277026"/>
                  </a:lnTo>
                  <a:lnTo>
                    <a:pt x="297445" y="285313"/>
                  </a:lnTo>
                  <a:close/>
                </a:path>
                <a:path w="372110" h="396875">
                  <a:moveTo>
                    <a:pt x="61941" y="223046"/>
                  </a:moveTo>
                  <a:lnTo>
                    <a:pt x="18126" y="204904"/>
                  </a:lnTo>
                  <a:lnTo>
                    <a:pt x="1328" y="167749"/>
                  </a:lnTo>
                  <a:lnTo>
                    <a:pt x="0" y="161011"/>
                  </a:lnTo>
                  <a:lnTo>
                    <a:pt x="4851" y="136966"/>
                  </a:lnTo>
                  <a:lnTo>
                    <a:pt x="18126" y="117273"/>
                  </a:lnTo>
                  <a:lnTo>
                    <a:pt x="37819" y="103998"/>
                  </a:lnTo>
                  <a:lnTo>
                    <a:pt x="61941" y="99131"/>
                  </a:lnTo>
                  <a:lnTo>
                    <a:pt x="77583" y="101124"/>
                  </a:lnTo>
                  <a:lnTo>
                    <a:pt x="91758" y="106769"/>
                  </a:lnTo>
                  <a:lnTo>
                    <a:pt x="103958" y="115566"/>
                  </a:lnTo>
                  <a:lnTo>
                    <a:pt x="110980" y="123837"/>
                  </a:lnTo>
                  <a:lnTo>
                    <a:pt x="61941" y="123837"/>
                  </a:lnTo>
                  <a:lnTo>
                    <a:pt x="47474" y="126759"/>
                  </a:lnTo>
                  <a:lnTo>
                    <a:pt x="35658" y="134728"/>
                  </a:lnTo>
                  <a:lnTo>
                    <a:pt x="27689" y="146544"/>
                  </a:lnTo>
                  <a:lnTo>
                    <a:pt x="24767" y="161011"/>
                  </a:lnTo>
                  <a:lnTo>
                    <a:pt x="27689" y="175478"/>
                  </a:lnTo>
                  <a:lnTo>
                    <a:pt x="35658" y="187295"/>
                  </a:lnTo>
                  <a:lnTo>
                    <a:pt x="47474" y="195263"/>
                  </a:lnTo>
                  <a:lnTo>
                    <a:pt x="61941" y="198186"/>
                  </a:lnTo>
                  <a:lnTo>
                    <a:pt x="123110" y="198186"/>
                  </a:lnTo>
                  <a:lnTo>
                    <a:pt x="137000" y="210345"/>
                  </a:lnTo>
                  <a:lnTo>
                    <a:pt x="99503" y="210345"/>
                  </a:lnTo>
                  <a:lnTo>
                    <a:pt x="91205" y="215695"/>
                  </a:lnTo>
                  <a:lnTo>
                    <a:pt x="82087" y="219687"/>
                  </a:lnTo>
                  <a:lnTo>
                    <a:pt x="72286" y="222183"/>
                  </a:lnTo>
                  <a:lnTo>
                    <a:pt x="61941" y="223046"/>
                  </a:lnTo>
                  <a:close/>
                </a:path>
                <a:path w="372110" h="396875">
                  <a:moveTo>
                    <a:pt x="123110" y="198186"/>
                  </a:moveTo>
                  <a:lnTo>
                    <a:pt x="68524" y="198186"/>
                  </a:lnTo>
                  <a:lnTo>
                    <a:pt x="74797" y="196482"/>
                  </a:lnTo>
                  <a:lnTo>
                    <a:pt x="80141" y="193384"/>
                  </a:lnTo>
                  <a:lnTo>
                    <a:pt x="85175" y="190518"/>
                  </a:lnTo>
                  <a:lnTo>
                    <a:pt x="89512" y="186569"/>
                  </a:lnTo>
                  <a:lnTo>
                    <a:pt x="90771" y="184711"/>
                  </a:lnTo>
                  <a:lnTo>
                    <a:pt x="93307" y="181070"/>
                  </a:lnTo>
                  <a:lnTo>
                    <a:pt x="93772" y="180295"/>
                  </a:lnTo>
                  <a:lnTo>
                    <a:pt x="94237" y="179443"/>
                  </a:lnTo>
                  <a:lnTo>
                    <a:pt x="97334" y="174022"/>
                  </a:lnTo>
                  <a:lnTo>
                    <a:pt x="99116" y="167749"/>
                  </a:lnTo>
                  <a:lnTo>
                    <a:pt x="99116" y="161011"/>
                  </a:lnTo>
                  <a:lnTo>
                    <a:pt x="96193" y="146544"/>
                  </a:lnTo>
                  <a:lnTo>
                    <a:pt x="88225" y="134728"/>
                  </a:lnTo>
                  <a:lnTo>
                    <a:pt x="76408" y="126759"/>
                  </a:lnTo>
                  <a:lnTo>
                    <a:pt x="61941" y="123837"/>
                  </a:lnTo>
                  <a:lnTo>
                    <a:pt x="110980" y="123837"/>
                  </a:lnTo>
                  <a:lnTo>
                    <a:pt x="113676" y="127012"/>
                  </a:lnTo>
                  <a:lnTo>
                    <a:pt x="180478" y="127012"/>
                  </a:lnTo>
                  <a:lnTo>
                    <a:pt x="122892" y="150014"/>
                  </a:lnTo>
                  <a:lnTo>
                    <a:pt x="123511" y="153576"/>
                  </a:lnTo>
                  <a:lnTo>
                    <a:pt x="123899" y="157294"/>
                  </a:lnTo>
                  <a:lnTo>
                    <a:pt x="123899" y="161011"/>
                  </a:lnTo>
                  <a:lnTo>
                    <a:pt x="115767" y="191758"/>
                  </a:lnTo>
                  <a:lnTo>
                    <a:pt x="123110" y="198186"/>
                  </a:lnTo>
                  <a:close/>
                </a:path>
                <a:path w="372110" h="396875">
                  <a:moveTo>
                    <a:pt x="260205" y="396527"/>
                  </a:moveTo>
                  <a:lnTo>
                    <a:pt x="236083" y="391660"/>
                  </a:lnTo>
                  <a:lnTo>
                    <a:pt x="216389" y="378385"/>
                  </a:lnTo>
                  <a:lnTo>
                    <a:pt x="203114" y="358691"/>
                  </a:lnTo>
                  <a:lnTo>
                    <a:pt x="198247" y="334569"/>
                  </a:lnTo>
                  <a:lnTo>
                    <a:pt x="198788" y="326347"/>
                  </a:lnTo>
                  <a:lnTo>
                    <a:pt x="200367" y="318451"/>
                  </a:lnTo>
                  <a:lnTo>
                    <a:pt x="202920" y="310947"/>
                  </a:lnTo>
                  <a:lnTo>
                    <a:pt x="206379" y="303900"/>
                  </a:lnTo>
                  <a:lnTo>
                    <a:pt x="99503" y="210345"/>
                  </a:lnTo>
                  <a:lnTo>
                    <a:pt x="137000" y="210345"/>
                  </a:lnTo>
                  <a:lnTo>
                    <a:pt x="222643" y="285313"/>
                  </a:lnTo>
                  <a:lnTo>
                    <a:pt x="297445" y="285313"/>
                  </a:lnTo>
                  <a:lnTo>
                    <a:pt x="298964" y="286203"/>
                  </a:lnTo>
                  <a:lnTo>
                    <a:pt x="309364" y="297395"/>
                  </a:lnTo>
                  <a:lnTo>
                    <a:pt x="260205" y="297395"/>
                  </a:lnTo>
                  <a:lnTo>
                    <a:pt x="252306" y="298236"/>
                  </a:lnTo>
                  <a:lnTo>
                    <a:pt x="227522" y="316834"/>
                  </a:lnTo>
                  <a:lnTo>
                    <a:pt x="226825" y="318073"/>
                  </a:lnTo>
                  <a:lnTo>
                    <a:pt x="226206" y="319467"/>
                  </a:lnTo>
                  <a:lnTo>
                    <a:pt x="223960" y="325043"/>
                  </a:lnTo>
                  <a:lnTo>
                    <a:pt x="223030" y="329690"/>
                  </a:lnTo>
                  <a:lnTo>
                    <a:pt x="223030" y="334569"/>
                  </a:lnTo>
                  <a:lnTo>
                    <a:pt x="225953" y="349036"/>
                  </a:lnTo>
                  <a:lnTo>
                    <a:pt x="233921" y="360853"/>
                  </a:lnTo>
                  <a:lnTo>
                    <a:pt x="245738" y="368821"/>
                  </a:lnTo>
                  <a:lnTo>
                    <a:pt x="260205" y="371744"/>
                  </a:lnTo>
                  <a:lnTo>
                    <a:pt x="308497" y="371744"/>
                  </a:lnTo>
                  <a:lnTo>
                    <a:pt x="304020" y="378385"/>
                  </a:lnTo>
                  <a:lnTo>
                    <a:pt x="284327" y="391660"/>
                  </a:lnTo>
                  <a:lnTo>
                    <a:pt x="260205" y="396527"/>
                  </a:lnTo>
                  <a:close/>
                </a:path>
                <a:path w="372110" h="396875">
                  <a:moveTo>
                    <a:pt x="308497" y="371744"/>
                  </a:moveTo>
                  <a:lnTo>
                    <a:pt x="260205" y="371744"/>
                  </a:lnTo>
                  <a:lnTo>
                    <a:pt x="274672" y="368821"/>
                  </a:lnTo>
                  <a:lnTo>
                    <a:pt x="286488" y="360853"/>
                  </a:lnTo>
                  <a:lnTo>
                    <a:pt x="294457" y="349036"/>
                  </a:lnTo>
                  <a:lnTo>
                    <a:pt x="297379" y="334569"/>
                  </a:lnTo>
                  <a:lnTo>
                    <a:pt x="294457" y="320102"/>
                  </a:lnTo>
                  <a:lnTo>
                    <a:pt x="286488" y="308286"/>
                  </a:lnTo>
                  <a:lnTo>
                    <a:pt x="274672" y="300317"/>
                  </a:lnTo>
                  <a:lnTo>
                    <a:pt x="260205" y="297395"/>
                  </a:lnTo>
                  <a:lnTo>
                    <a:pt x="309364" y="297395"/>
                  </a:lnTo>
                  <a:lnTo>
                    <a:pt x="311261" y="299437"/>
                  </a:lnTo>
                  <a:lnTo>
                    <a:pt x="319289" y="315853"/>
                  </a:lnTo>
                  <a:lnTo>
                    <a:pt x="322162" y="334569"/>
                  </a:lnTo>
                  <a:lnTo>
                    <a:pt x="317295" y="358691"/>
                  </a:lnTo>
                  <a:lnTo>
                    <a:pt x="308497" y="371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4924" y="2756394"/>
              <a:ext cx="414102" cy="40058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12746" y="2926954"/>
              <a:ext cx="363855" cy="163830"/>
            </a:xfrm>
            <a:custGeom>
              <a:avLst/>
              <a:gdLst/>
              <a:ahLst/>
              <a:cxnLst/>
              <a:rect l="l" t="t" r="r" b="b"/>
              <a:pathLst>
                <a:path w="363854" h="163830">
                  <a:moveTo>
                    <a:pt x="0" y="61722"/>
                  </a:moveTo>
                  <a:lnTo>
                    <a:pt x="159894" y="157308"/>
                  </a:lnTo>
                  <a:lnTo>
                    <a:pt x="173862" y="162847"/>
                  </a:lnTo>
                  <a:lnTo>
                    <a:pt x="184277" y="163226"/>
                  </a:lnTo>
                  <a:lnTo>
                    <a:pt x="194227" y="159430"/>
                  </a:lnTo>
                  <a:lnTo>
                    <a:pt x="206802" y="152444"/>
                  </a:lnTo>
                  <a:lnTo>
                    <a:pt x="363348" y="59381"/>
                  </a:lnTo>
                </a:path>
                <a:path w="363854" h="163830">
                  <a:moveTo>
                    <a:pt x="357590" y="20231"/>
                  </a:moveTo>
                  <a:lnTo>
                    <a:pt x="323866" y="0"/>
                  </a:lnTo>
                </a:path>
                <a:path w="363854" h="163830">
                  <a:moveTo>
                    <a:pt x="361893" y="107004"/>
                  </a:moveTo>
                  <a:lnTo>
                    <a:pt x="322249" y="83786"/>
                  </a:lnTo>
                </a:path>
              </a:pathLst>
            </a:custGeom>
            <a:ln w="175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50672" y="4243816"/>
              <a:ext cx="365125" cy="396875"/>
            </a:xfrm>
            <a:custGeom>
              <a:avLst/>
              <a:gdLst/>
              <a:ahLst/>
              <a:cxnLst/>
              <a:rect l="l" t="t" r="r" b="b"/>
              <a:pathLst>
                <a:path w="365125" h="396875">
                  <a:moveTo>
                    <a:pt x="16267" y="301682"/>
                  </a:moveTo>
                  <a:lnTo>
                    <a:pt x="23883" y="301519"/>
                  </a:lnTo>
                  <a:lnTo>
                    <a:pt x="37780" y="301415"/>
                  </a:lnTo>
                  <a:lnTo>
                    <a:pt x="57956" y="301371"/>
                  </a:lnTo>
                  <a:lnTo>
                    <a:pt x="84412" y="301386"/>
                  </a:lnTo>
                </a:path>
                <a:path w="365125" h="396875">
                  <a:moveTo>
                    <a:pt x="345168" y="301330"/>
                  </a:moveTo>
                  <a:lnTo>
                    <a:pt x="358474" y="339509"/>
                  </a:lnTo>
                  <a:lnTo>
                    <a:pt x="358314" y="341523"/>
                  </a:lnTo>
                  <a:lnTo>
                    <a:pt x="350529" y="351962"/>
                  </a:lnTo>
                  <a:lnTo>
                    <a:pt x="345864" y="352991"/>
                  </a:lnTo>
                </a:path>
                <a:path w="365125" h="396875">
                  <a:moveTo>
                    <a:pt x="24538" y="353008"/>
                  </a:moveTo>
                  <a:lnTo>
                    <a:pt x="8983" y="316116"/>
                  </a:lnTo>
                  <a:lnTo>
                    <a:pt x="9354" y="312174"/>
                  </a:lnTo>
                  <a:lnTo>
                    <a:pt x="10687" y="308270"/>
                  </a:lnTo>
                  <a:lnTo>
                    <a:pt x="11897" y="306379"/>
                  </a:lnTo>
                  <a:lnTo>
                    <a:pt x="16267" y="301682"/>
                  </a:lnTo>
                </a:path>
                <a:path w="365125" h="396875">
                  <a:moveTo>
                    <a:pt x="236701" y="353049"/>
                  </a:moveTo>
                  <a:lnTo>
                    <a:pt x="228170" y="392301"/>
                  </a:lnTo>
                  <a:lnTo>
                    <a:pt x="216883" y="396395"/>
                  </a:lnTo>
                  <a:lnTo>
                    <a:pt x="207673" y="396527"/>
                  </a:lnTo>
                </a:path>
                <a:path w="365125" h="396875">
                  <a:moveTo>
                    <a:pt x="299643" y="152613"/>
                  </a:moveTo>
                  <a:lnTo>
                    <a:pt x="298762" y="136828"/>
                  </a:lnTo>
                  <a:lnTo>
                    <a:pt x="297777" y="124825"/>
                  </a:lnTo>
                  <a:lnTo>
                    <a:pt x="296545" y="115088"/>
                  </a:lnTo>
                  <a:lnTo>
                    <a:pt x="294920" y="106101"/>
                  </a:lnTo>
                  <a:lnTo>
                    <a:pt x="290967" y="94036"/>
                  </a:lnTo>
                </a:path>
                <a:path w="365125" h="396875">
                  <a:moveTo>
                    <a:pt x="155194" y="396506"/>
                  </a:moveTo>
                  <a:lnTo>
                    <a:pt x="131584" y="377199"/>
                  </a:lnTo>
                  <a:lnTo>
                    <a:pt x="131501" y="353073"/>
                  </a:lnTo>
                </a:path>
                <a:path w="365125" h="396875">
                  <a:moveTo>
                    <a:pt x="0" y="0"/>
                  </a:moveTo>
                  <a:lnTo>
                    <a:pt x="46316" y="46903"/>
                  </a:lnTo>
                </a:path>
                <a:path w="365125" h="396875">
                  <a:moveTo>
                    <a:pt x="320174" y="47437"/>
                  </a:moveTo>
                  <a:lnTo>
                    <a:pt x="364656" y="2490"/>
                  </a:lnTo>
                </a:path>
                <a:path w="365125" h="396875">
                  <a:moveTo>
                    <a:pt x="84412" y="301386"/>
                  </a:moveTo>
                  <a:lnTo>
                    <a:pt x="345168" y="301330"/>
                  </a:lnTo>
                </a:path>
                <a:path w="365125" h="396875">
                  <a:moveTo>
                    <a:pt x="345864" y="352991"/>
                  </a:moveTo>
                  <a:lnTo>
                    <a:pt x="24538" y="353008"/>
                  </a:lnTo>
                </a:path>
                <a:path w="365125" h="396875">
                  <a:moveTo>
                    <a:pt x="183782" y="102263"/>
                  </a:moveTo>
                  <a:lnTo>
                    <a:pt x="183820" y="197775"/>
                  </a:lnTo>
                </a:path>
                <a:path w="365125" h="396875">
                  <a:moveTo>
                    <a:pt x="207673" y="396527"/>
                  </a:moveTo>
                  <a:lnTo>
                    <a:pt x="155194" y="396506"/>
                  </a:lnTo>
                </a:path>
                <a:path w="365125" h="396875">
                  <a:moveTo>
                    <a:pt x="306396" y="301294"/>
                  </a:moveTo>
                  <a:lnTo>
                    <a:pt x="299643" y="152613"/>
                  </a:lnTo>
                </a:path>
                <a:path w="365125" h="396875">
                  <a:moveTo>
                    <a:pt x="290919" y="94054"/>
                  </a:moveTo>
                  <a:lnTo>
                    <a:pt x="270816" y="60274"/>
                  </a:lnTo>
                  <a:lnTo>
                    <a:pt x="266522" y="55261"/>
                  </a:lnTo>
                  <a:lnTo>
                    <a:pt x="261832" y="50653"/>
                  </a:lnTo>
                  <a:lnTo>
                    <a:pt x="256744" y="46448"/>
                  </a:lnTo>
                  <a:lnTo>
                    <a:pt x="251657" y="42243"/>
                  </a:lnTo>
                  <a:lnTo>
                    <a:pt x="222615" y="26944"/>
                  </a:lnTo>
                  <a:lnTo>
                    <a:pt x="216409" y="24696"/>
                  </a:lnTo>
                  <a:lnTo>
                    <a:pt x="183912" y="20063"/>
                  </a:lnTo>
                  <a:lnTo>
                    <a:pt x="177312" y="20034"/>
                  </a:lnTo>
                  <a:lnTo>
                    <a:pt x="170758" y="20569"/>
                  </a:lnTo>
                  <a:lnTo>
                    <a:pt x="164250" y="21668"/>
                  </a:lnTo>
                  <a:lnTo>
                    <a:pt x="157742" y="22766"/>
                  </a:lnTo>
                  <a:lnTo>
                    <a:pt x="121417" y="37959"/>
                  </a:lnTo>
                  <a:lnTo>
                    <a:pt x="96661" y="59516"/>
                  </a:lnTo>
                  <a:lnTo>
                    <a:pt x="92323" y="64490"/>
                  </a:lnTo>
                  <a:lnTo>
                    <a:pt x="88442" y="69798"/>
                  </a:lnTo>
                  <a:lnTo>
                    <a:pt x="85017" y="75441"/>
                  </a:lnTo>
                  <a:lnTo>
                    <a:pt x="81593" y="81083"/>
                  </a:lnTo>
                  <a:lnTo>
                    <a:pt x="69333" y="118500"/>
                  </a:lnTo>
                  <a:lnTo>
                    <a:pt x="68569" y="125031"/>
                  </a:lnTo>
                  <a:lnTo>
                    <a:pt x="68366" y="131628"/>
                  </a:lnTo>
                </a:path>
                <a:path w="365125" h="396875">
                  <a:moveTo>
                    <a:pt x="68102" y="131620"/>
                  </a:moveTo>
                  <a:lnTo>
                    <a:pt x="60932" y="301364"/>
                  </a:lnTo>
                </a:path>
              </a:pathLst>
            </a:custGeom>
            <a:ln w="17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53123" y="4866788"/>
            <a:ext cx="1717039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10"/>
              </a:spcBef>
            </a:pPr>
            <a:r>
              <a:rPr sz="17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endParaRPr sz="1750">
              <a:latin typeface="Cambria"/>
              <a:cs typeface="Cambria"/>
            </a:endParaRPr>
          </a:p>
          <a:p>
            <a:pPr marL="12700" marR="5080" algn="ctr">
              <a:lnSpc>
                <a:spcPct val="101400"/>
              </a:lnSpc>
              <a:spcBef>
                <a:spcPts val="705"/>
              </a:spcBef>
            </a:pPr>
            <a:r>
              <a:rPr sz="1400" spc="80" dirty="0">
                <a:solidFill>
                  <a:srgbClr val="4B4B4B"/>
                </a:solidFill>
                <a:latin typeface="Cambria"/>
                <a:cs typeface="Cambria"/>
              </a:rPr>
              <a:t>Apply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4B4B4B"/>
                </a:solidFill>
                <a:latin typeface="Cambria"/>
                <a:cs typeface="Cambria"/>
              </a:rPr>
              <a:t>unsupervised algorithms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3269" y="4866788"/>
            <a:ext cx="1649730" cy="9302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18465">
              <a:lnSpc>
                <a:spcPct val="100000"/>
              </a:lnSpc>
              <a:spcBef>
                <a:spcPts val="1010"/>
              </a:spcBef>
            </a:pPr>
            <a:r>
              <a:rPr sz="1750" spc="45" dirty="0">
                <a:solidFill>
                  <a:srgbClr val="4B4B4B"/>
                </a:solidFill>
                <a:latin typeface="Cambria"/>
                <a:cs typeface="Cambria"/>
              </a:rPr>
              <a:t>Insights</a:t>
            </a:r>
            <a:endParaRPr sz="1750">
              <a:latin typeface="Cambria"/>
              <a:cs typeface="Cambria"/>
            </a:endParaRPr>
          </a:p>
          <a:p>
            <a:pPr marL="12700" marR="5080" indent="85725">
              <a:lnSpc>
                <a:spcPct val="101400"/>
              </a:lnSpc>
              <a:spcBef>
                <a:spcPts val="705"/>
              </a:spcBef>
            </a:pPr>
            <a:r>
              <a:rPr sz="1400" dirty="0">
                <a:solidFill>
                  <a:srgbClr val="4B4B4B"/>
                </a:solidFill>
                <a:latin typeface="Cambria"/>
                <a:cs typeface="Cambria"/>
              </a:rPr>
              <a:t>Detect</a:t>
            </a:r>
            <a:r>
              <a:rPr sz="1400" spc="33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suspicious </a:t>
            </a:r>
            <a:r>
              <a:rPr sz="1400" spc="85" dirty="0">
                <a:solidFill>
                  <a:srgbClr val="4B4B4B"/>
                </a:solidFill>
                <a:latin typeface="Cambria"/>
                <a:cs typeface="Cambria"/>
              </a:rPr>
              <a:t>behaviour</a:t>
            </a:r>
            <a:r>
              <a:rPr sz="1400" spc="5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4B4B4B"/>
                </a:solidFill>
                <a:latin typeface="Cambria"/>
                <a:cs typeface="Cambria"/>
              </a:rPr>
              <a:t>patterns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0074" y="7439025"/>
            <a:ext cx="5045710" cy="1530985"/>
            <a:chOff x="600074" y="7439025"/>
            <a:chExt cx="5045710" cy="1530985"/>
          </a:xfrm>
        </p:grpSpPr>
        <p:sp>
          <p:nvSpPr>
            <p:cNvPr id="24" name="object 24"/>
            <p:cNvSpPr/>
            <p:nvPr/>
          </p:nvSpPr>
          <p:spPr>
            <a:xfrm>
              <a:off x="617206" y="7713958"/>
              <a:ext cx="5028565" cy="1256030"/>
            </a:xfrm>
            <a:custGeom>
              <a:avLst/>
              <a:gdLst/>
              <a:ahLst/>
              <a:cxnLst/>
              <a:rect l="l" t="t" r="r" b="b"/>
              <a:pathLst>
                <a:path w="5028565" h="1256029">
                  <a:moveTo>
                    <a:pt x="5017312" y="1230016"/>
                  </a:moveTo>
                  <a:lnTo>
                    <a:pt x="4958754" y="1230016"/>
                  </a:lnTo>
                  <a:lnTo>
                    <a:pt x="4965194" y="1228734"/>
                  </a:lnTo>
                  <a:lnTo>
                    <a:pt x="4977563" y="1223610"/>
                  </a:lnTo>
                  <a:lnTo>
                    <a:pt x="5001261" y="1192667"/>
                  </a:lnTo>
                  <a:lnTo>
                    <a:pt x="5002543" y="58441"/>
                  </a:lnTo>
                  <a:lnTo>
                    <a:pt x="5002225" y="51873"/>
                  </a:lnTo>
                  <a:lnTo>
                    <a:pt x="4987434" y="16163"/>
                  </a:lnTo>
                  <a:lnTo>
                    <a:pt x="4967917" y="0"/>
                  </a:lnTo>
                  <a:lnTo>
                    <a:pt x="4971714" y="754"/>
                  </a:lnTo>
                  <a:lnTo>
                    <a:pt x="5009360" y="24170"/>
                  </a:lnTo>
                  <a:lnTo>
                    <a:pt x="5027652" y="64555"/>
                  </a:lnTo>
                  <a:lnTo>
                    <a:pt x="5028140" y="69511"/>
                  </a:lnTo>
                  <a:lnTo>
                    <a:pt x="5028140" y="1199547"/>
                  </a:lnTo>
                  <a:lnTo>
                    <a:pt x="5020216" y="1225668"/>
                  </a:lnTo>
                  <a:lnTo>
                    <a:pt x="5017312" y="1230016"/>
                  </a:lnTo>
                  <a:close/>
                </a:path>
                <a:path w="5028565" h="1256029">
                  <a:moveTo>
                    <a:pt x="4972074" y="1255614"/>
                  </a:moveTo>
                  <a:lnTo>
                    <a:pt x="55009" y="1255614"/>
                  </a:lnTo>
                  <a:lnTo>
                    <a:pt x="51106" y="1255229"/>
                  </a:lnTo>
                  <a:lnTo>
                    <a:pt x="13731" y="1235251"/>
                  </a:lnTo>
                  <a:lnTo>
                    <a:pt x="0" y="1206836"/>
                  </a:lnTo>
                  <a:lnTo>
                    <a:pt x="2445" y="1210496"/>
                  </a:lnTo>
                  <a:lnTo>
                    <a:pt x="11913" y="1219963"/>
                  </a:lnTo>
                  <a:lnTo>
                    <a:pt x="17372" y="1223610"/>
                  </a:lnTo>
                  <a:lnTo>
                    <a:pt x="29741" y="1228734"/>
                  </a:lnTo>
                  <a:lnTo>
                    <a:pt x="36181" y="1230016"/>
                  </a:lnTo>
                  <a:lnTo>
                    <a:pt x="5017312" y="1230016"/>
                  </a:lnTo>
                  <a:lnTo>
                    <a:pt x="5015839" y="1232220"/>
                  </a:lnTo>
                  <a:lnTo>
                    <a:pt x="4983704" y="1253692"/>
                  </a:lnTo>
                  <a:lnTo>
                    <a:pt x="4975976" y="1255229"/>
                  </a:lnTo>
                  <a:lnTo>
                    <a:pt x="4972074" y="1255614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599" y="7696200"/>
              <a:ext cx="5010150" cy="1247775"/>
            </a:xfrm>
            <a:custGeom>
              <a:avLst/>
              <a:gdLst/>
              <a:ahLst/>
              <a:cxnLst/>
              <a:rect l="l" t="t" r="r" b="b"/>
              <a:pathLst>
                <a:path w="5010150" h="1247775">
                  <a:moveTo>
                    <a:pt x="4962982" y="1247773"/>
                  </a:moveTo>
                  <a:lnTo>
                    <a:pt x="47167" y="1247773"/>
                  </a:lnTo>
                  <a:lnTo>
                    <a:pt x="43884" y="1247450"/>
                  </a:lnTo>
                  <a:lnTo>
                    <a:pt x="10349" y="1228093"/>
                  </a:lnTo>
                  <a:lnTo>
                    <a:pt x="0" y="1200606"/>
                  </a:lnTo>
                  <a:lnTo>
                    <a:pt x="0" y="1197291"/>
                  </a:lnTo>
                  <a:lnTo>
                    <a:pt x="0" y="71195"/>
                  </a:lnTo>
                  <a:lnTo>
                    <a:pt x="13668" y="29703"/>
                  </a:lnTo>
                  <a:lnTo>
                    <a:pt x="45204" y="3884"/>
                  </a:lnTo>
                  <a:lnTo>
                    <a:pt x="62297" y="0"/>
                  </a:lnTo>
                  <a:lnTo>
                    <a:pt x="4947852" y="0"/>
                  </a:lnTo>
                  <a:lnTo>
                    <a:pt x="4984156" y="15619"/>
                  </a:lnTo>
                  <a:lnTo>
                    <a:pt x="5006749" y="51660"/>
                  </a:lnTo>
                  <a:lnTo>
                    <a:pt x="5010149" y="71195"/>
                  </a:lnTo>
                  <a:lnTo>
                    <a:pt x="5010149" y="1200606"/>
                  </a:lnTo>
                  <a:lnTo>
                    <a:pt x="4993018" y="1235331"/>
                  </a:lnTo>
                  <a:lnTo>
                    <a:pt x="4966265" y="1247450"/>
                  </a:lnTo>
                  <a:lnTo>
                    <a:pt x="4962982" y="1247773"/>
                  </a:lnTo>
                  <a:close/>
                </a:path>
              </a:pathLst>
            </a:custGeom>
            <a:solidFill>
              <a:srgbClr val="FD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062" y="7677149"/>
              <a:ext cx="5029200" cy="1276985"/>
            </a:xfrm>
            <a:custGeom>
              <a:avLst/>
              <a:gdLst/>
              <a:ahLst/>
              <a:cxnLst/>
              <a:rect l="l" t="t" r="r" b="b"/>
              <a:pathLst>
                <a:path w="5029200" h="1276984">
                  <a:moveTo>
                    <a:pt x="5029200" y="56070"/>
                  </a:moveTo>
                  <a:lnTo>
                    <a:pt x="5014417" y="20370"/>
                  </a:lnTo>
                  <a:lnTo>
                    <a:pt x="5010150" y="16103"/>
                  </a:lnTo>
                  <a:lnTo>
                    <a:pt x="5010150" y="95262"/>
                  </a:lnTo>
                  <a:lnTo>
                    <a:pt x="5010150" y="1216355"/>
                  </a:lnTo>
                  <a:lnTo>
                    <a:pt x="4997640" y="1245743"/>
                  </a:lnTo>
                  <a:lnTo>
                    <a:pt x="4991849" y="1250556"/>
                  </a:lnTo>
                  <a:lnTo>
                    <a:pt x="4984915" y="1254302"/>
                  </a:lnTo>
                  <a:lnTo>
                    <a:pt x="4977371" y="1256550"/>
                  </a:lnTo>
                  <a:lnTo>
                    <a:pt x="4969192" y="1257312"/>
                  </a:lnTo>
                  <a:lnTo>
                    <a:pt x="60007" y="1257312"/>
                  </a:lnTo>
                  <a:lnTo>
                    <a:pt x="51841" y="1256550"/>
                  </a:lnTo>
                  <a:lnTo>
                    <a:pt x="44284" y="1254302"/>
                  </a:lnTo>
                  <a:lnTo>
                    <a:pt x="37363" y="1250556"/>
                  </a:lnTo>
                  <a:lnTo>
                    <a:pt x="31559" y="1245755"/>
                  </a:lnTo>
                  <a:lnTo>
                    <a:pt x="31051" y="1245311"/>
                  </a:lnTo>
                  <a:lnTo>
                    <a:pt x="25806" y="1238999"/>
                  </a:lnTo>
                  <a:lnTo>
                    <a:pt x="22059" y="1232077"/>
                  </a:lnTo>
                  <a:lnTo>
                    <a:pt x="19812" y="1224521"/>
                  </a:lnTo>
                  <a:lnTo>
                    <a:pt x="19050" y="1216355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16103"/>
                  </a:lnTo>
                  <a:lnTo>
                    <a:pt x="4973142" y="0"/>
                  </a:lnTo>
                  <a:lnTo>
                    <a:pt x="56070" y="0"/>
                  </a:lnTo>
                  <a:lnTo>
                    <a:pt x="20370" y="14795"/>
                  </a:lnTo>
                  <a:lnTo>
                    <a:pt x="393" y="52171"/>
                  </a:lnTo>
                  <a:lnTo>
                    <a:pt x="0" y="56070"/>
                  </a:lnTo>
                  <a:lnTo>
                    <a:pt x="0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224305"/>
                  </a:lnTo>
                  <a:lnTo>
                    <a:pt x="17576" y="1258785"/>
                  </a:lnTo>
                  <a:lnTo>
                    <a:pt x="52057" y="1276362"/>
                  </a:lnTo>
                  <a:lnTo>
                    <a:pt x="4977155" y="1276362"/>
                  </a:lnTo>
                  <a:lnTo>
                    <a:pt x="4984813" y="1274838"/>
                  </a:lnTo>
                  <a:lnTo>
                    <a:pt x="4999520" y="1268742"/>
                  </a:lnTo>
                  <a:lnTo>
                    <a:pt x="5006010" y="1264412"/>
                  </a:lnTo>
                  <a:lnTo>
                    <a:pt x="5011153" y="1259255"/>
                  </a:lnTo>
                  <a:lnTo>
                    <a:pt x="5011623" y="1258785"/>
                  </a:lnTo>
                  <a:lnTo>
                    <a:pt x="5029162" y="1224521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00" y="76200"/>
                  </a:lnTo>
                  <a:lnTo>
                    <a:pt x="5029200" y="56070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57499" y="74390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57174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7874" y="7968701"/>
            <a:ext cx="3089910" cy="77914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650" spc="90" dirty="0">
                <a:solidFill>
                  <a:srgbClr val="4B4B4B"/>
                </a:solidFill>
                <a:latin typeface="Cambria"/>
                <a:cs typeface="Cambria"/>
              </a:rPr>
              <a:t>Comparison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K-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Means</a:t>
            </a:r>
            <a:r>
              <a:rPr sz="1350" spc="13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4B4B4B"/>
                </a:solidFill>
                <a:latin typeface="Lucida Sans Unicode"/>
                <a:cs typeface="Lucida Sans Unicode"/>
              </a:rPr>
              <a:t>→</a:t>
            </a:r>
            <a:r>
              <a:rPr sz="1500" spc="-140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Partitioning</a:t>
            </a:r>
            <a:r>
              <a:rPr sz="1350" spc="14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(flat</a:t>
            </a:r>
            <a:r>
              <a:rPr sz="1350" spc="13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mbria"/>
                <a:cs typeface="Cambria"/>
              </a:rPr>
              <a:t>clusters)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800724" y="7439025"/>
            <a:ext cx="5045710" cy="1530985"/>
            <a:chOff x="5800724" y="7439025"/>
            <a:chExt cx="5045710" cy="1530985"/>
          </a:xfrm>
        </p:grpSpPr>
        <p:sp>
          <p:nvSpPr>
            <p:cNvPr id="30" name="object 30"/>
            <p:cNvSpPr/>
            <p:nvPr/>
          </p:nvSpPr>
          <p:spPr>
            <a:xfrm>
              <a:off x="5817855" y="7713958"/>
              <a:ext cx="5028565" cy="1256030"/>
            </a:xfrm>
            <a:custGeom>
              <a:avLst/>
              <a:gdLst/>
              <a:ahLst/>
              <a:cxnLst/>
              <a:rect l="l" t="t" r="r" b="b"/>
              <a:pathLst>
                <a:path w="5028565" h="1256029">
                  <a:moveTo>
                    <a:pt x="5017311" y="1230016"/>
                  </a:moveTo>
                  <a:lnTo>
                    <a:pt x="4958754" y="1230016"/>
                  </a:lnTo>
                  <a:lnTo>
                    <a:pt x="4965193" y="1228734"/>
                  </a:lnTo>
                  <a:lnTo>
                    <a:pt x="4977562" y="1223610"/>
                  </a:lnTo>
                  <a:lnTo>
                    <a:pt x="5001261" y="1192667"/>
                  </a:lnTo>
                  <a:lnTo>
                    <a:pt x="5002543" y="58442"/>
                  </a:lnTo>
                  <a:lnTo>
                    <a:pt x="5002226" y="51873"/>
                  </a:lnTo>
                  <a:lnTo>
                    <a:pt x="4987434" y="16164"/>
                  </a:lnTo>
                  <a:lnTo>
                    <a:pt x="4967916" y="0"/>
                  </a:lnTo>
                  <a:lnTo>
                    <a:pt x="4971714" y="754"/>
                  </a:lnTo>
                  <a:lnTo>
                    <a:pt x="5009361" y="24170"/>
                  </a:lnTo>
                  <a:lnTo>
                    <a:pt x="5027653" y="64555"/>
                  </a:lnTo>
                  <a:lnTo>
                    <a:pt x="5028141" y="69511"/>
                  </a:lnTo>
                  <a:lnTo>
                    <a:pt x="5028141" y="1199547"/>
                  </a:lnTo>
                  <a:lnTo>
                    <a:pt x="5020216" y="1225669"/>
                  </a:lnTo>
                  <a:lnTo>
                    <a:pt x="5017311" y="1230016"/>
                  </a:lnTo>
                  <a:close/>
                </a:path>
                <a:path w="5028565" h="1256029">
                  <a:moveTo>
                    <a:pt x="4972074" y="1255614"/>
                  </a:moveTo>
                  <a:lnTo>
                    <a:pt x="55009" y="1255614"/>
                  </a:lnTo>
                  <a:lnTo>
                    <a:pt x="51106" y="1255230"/>
                  </a:lnTo>
                  <a:lnTo>
                    <a:pt x="13731" y="1235252"/>
                  </a:lnTo>
                  <a:lnTo>
                    <a:pt x="0" y="1206837"/>
                  </a:lnTo>
                  <a:lnTo>
                    <a:pt x="2445" y="1210496"/>
                  </a:lnTo>
                  <a:lnTo>
                    <a:pt x="11913" y="1219963"/>
                  </a:lnTo>
                  <a:lnTo>
                    <a:pt x="17371" y="1223610"/>
                  </a:lnTo>
                  <a:lnTo>
                    <a:pt x="29741" y="1228734"/>
                  </a:lnTo>
                  <a:lnTo>
                    <a:pt x="36181" y="1230016"/>
                  </a:lnTo>
                  <a:lnTo>
                    <a:pt x="5017311" y="1230016"/>
                  </a:lnTo>
                  <a:lnTo>
                    <a:pt x="5015838" y="1232221"/>
                  </a:lnTo>
                  <a:lnTo>
                    <a:pt x="4983702" y="1253692"/>
                  </a:lnTo>
                  <a:lnTo>
                    <a:pt x="4975974" y="1255230"/>
                  </a:lnTo>
                  <a:lnTo>
                    <a:pt x="4972074" y="1255614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0249" y="7696200"/>
              <a:ext cx="5010150" cy="1247775"/>
            </a:xfrm>
            <a:custGeom>
              <a:avLst/>
              <a:gdLst/>
              <a:ahLst/>
              <a:cxnLst/>
              <a:rect l="l" t="t" r="r" b="b"/>
              <a:pathLst>
                <a:path w="5010150" h="1247775">
                  <a:moveTo>
                    <a:pt x="4962981" y="1247773"/>
                  </a:moveTo>
                  <a:lnTo>
                    <a:pt x="47167" y="1247773"/>
                  </a:lnTo>
                  <a:lnTo>
                    <a:pt x="43884" y="1247450"/>
                  </a:lnTo>
                  <a:lnTo>
                    <a:pt x="10348" y="1228093"/>
                  </a:lnTo>
                  <a:lnTo>
                    <a:pt x="0" y="1200606"/>
                  </a:lnTo>
                  <a:lnTo>
                    <a:pt x="0" y="1197291"/>
                  </a:lnTo>
                  <a:lnTo>
                    <a:pt x="0" y="71195"/>
                  </a:lnTo>
                  <a:lnTo>
                    <a:pt x="13668" y="29703"/>
                  </a:lnTo>
                  <a:lnTo>
                    <a:pt x="45204" y="3884"/>
                  </a:lnTo>
                  <a:lnTo>
                    <a:pt x="62296" y="0"/>
                  </a:lnTo>
                  <a:lnTo>
                    <a:pt x="4947852" y="0"/>
                  </a:lnTo>
                  <a:lnTo>
                    <a:pt x="4984157" y="15619"/>
                  </a:lnTo>
                  <a:lnTo>
                    <a:pt x="5006748" y="51660"/>
                  </a:lnTo>
                  <a:lnTo>
                    <a:pt x="5010148" y="71195"/>
                  </a:lnTo>
                  <a:lnTo>
                    <a:pt x="5010148" y="1200606"/>
                  </a:lnTo>
                  <a:lnTo>
                    <a:pt x="4993020" y="1235331"/>
                  </a:lnTo>
                  <a:lnTo>
                    <a:pt x="4966263" y="1247450"/>
                  </a:lnTo>
                  <a:lnTo>
                    <a:pt x="4962981" y="1247773"/>
                  </a:lnTo>
                  <a:close/>
                </a:path>
              </a:pathLst>
            </a:custGeom>
            <a:solidFill>
              <a:srgbClr val="FD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00712" y="7677149"/>
              <a:ext cx="5029200" cy="1276985"/>
            </a:xfrm>
            <a:custGeom>
              <a:avLst/>
              <a:gdLst/>
              <a:ahLst/>
              <a:cxnLst/>
              <a:rect l="l" t="t" r="r" b="b"/>
              <a:pathLst>
                <a:path w="5029200" h="1276984">
                  <a:moveTo>
                    <a:pt x="5029200" y="56070"/>
                  </a:moveTo>
                  <a:lnTo>
                    <a:pt x="5014417" y="20370"/>
                  </a:lnTo>
                  <a:lnTo>
                    <a:pt x="5010150" y="16103"/>
                  </a:lnTo>
                  <a:lnTo>
                    <a:pt x="5010150" y="95262"/>
                  </a:lnTo>
                  <a:lnTo>
                    <a:pt x="5010150" y="1216355"/>
                  </a:lnTo>
                  <a:lnTo>
                    <a:pt x="4997640" y="1245743"/>
                  </a:lnTo>
                  <a:lnTo>
                    <a:pt x="4991849" y="1250556"/>
                  </a:lnTo>
                  <a:lnTo>
                    <a:pt x="4984915" y="1254302"/>
                  </a:lnTo>
                  <a:lnTo>
                    <a:pt x="4977371" y="1256550"/>
                  </a:lnTo>
                  <a:lnTo>
                    <a:pt x="4969192" y="1257312"/>
                  </a:lnTo>
                  <a:lnTo>
                    <a:pt x="60007" y="1257312"/>
                  </a:lnTo>
                  <a:lnTo>
                    <a:pt x="51841" y="1256550"/>
                  </a:lnTo>
                  <a:lnTo>
                    <a:pt x="44284" y="1254302"/>
                  </a:lnTo>
                  <a:lnTo>
                    <a:pt x="37363" y="1250556"/>
                  </a:lnTo>
                  <a:lnTo>
                    <a:pt x="31559" y="1245755"/>
                  </a:lnTo>
                  <a:lnTo>
                    <a:pt x="31051" y="1245311"/>
                  </a:lnTo>
                  <a:lnTo>
                    <a:pt x="25806" y="1238999"/>
                  </a:lnTo>
                  <a:lnTo>
                    <a:pt x="22059" y="1232077"/>
                  </a:lnTo>
                  <a:lnTo>
                    <a:pt x="19799" y="1224521"/>
                  </a:lnTo>
                  <a:lnTo>
                    <a:pt x="19050" y="1216355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16103"/>
                  </a:lnTo>
                  <a:lnTo>
                    <a:pt x="4973142" y="0"/>
                  </a:lnTo>
                  <a:lnTo>
                    <a:pt x="56070" y="0"/>
                  </a:lnTo>
                  <a:lnTo>
                    <a:pt x="20370" y="14795"/>
                  </a:lnTo>
                  <a:lnTo>
                    <a:pt x="393" y="52171"/>
                  </a:lnTo>
                  <a:lnTo>
                    <a:pt x="0" y="56070"/>
                  </a:lnTo>
                  <a:lnTo>
                    <a:pt x="0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224305"/>
                  </a:lnTo>
                  <a:lnTo>
                    <a:pt x="1524" y="1231963"/>
                  </a:lnTo>
                  <a:lnTo>
                    <a:pt x="7620" y="1246657"/>
                  </a:lnTo>
                  <a:lnTo>
                    <a:pt x="11950" y="1253147"/>
                  </a:lnTo>
                  <a:lnTo>
                    <a:pt x="18059" y="1259255"/>
                  </a:lnTo>
                  <a:lnTo>
                    <a:pt x="23202" y="1264412"/>
                  </a:lnTo>
                  <a:lnTo>
                    <a:pt x="29692" y="1268742"/>
                  </a:lnTo>
                  <a:lnTo>
                    <a:pt x="44399" y="1274838"/>
                  </a:lnTo>
                  <a:lnTo>
                    <a:pt x="52057" y="1276362"/>
                  </a:lnTo>
                  <a:lnTo>
                    <a:pt x="4977155" y="1276362"/>
                  </a:lnTo>
                  <a:lnTo>
                    <a:pt x="4984813" y="1274838"/>
                  </a:lnTo>
                  <a:lnTo>
                    <a:pt x="4999507" y="1268742"/>
                  </a:lnTo>
                  <a:lnTo>
                    <a:pt x="5005997" y="1264412"/>
                  </a:lnTo>
                  <a:lnTo>
                    <a:pt x="5011140" y="1259255"/>
                  </a:lnTo>
                  <a:lnTo>
                    <a:pt x="5011623" y="1258773"/>
                  </a:lnTo>
                  <a:lnTo>
                    <a:pt x="5017249" y="1253147"/>
                  </a:lnTo>
                  <a:lnTo>
                    <a:pt x="5021592" y="1246657"/>
                  </a:lnTo>
                  <a:lnTo>
                    <a:pt x="5027676" y="1231963"/>
                  </a:lnTo>
                  <a:lnTo>
                    <a:pt x="5029162" y="1224521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00" y="76200"/>
                  </a:lnTo>
                  <a:lnTo>
                    <a:pt x="5029200" y="56070"/>
                  </a:lnTo>
                  <a:close/>
                </a:path>
              </a:pathLst>
            </a:custGeom>
            <a:solidFill>
              <a:srgbClr val="E6D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58149" y="74390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57174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F1E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7374" y="6089015"/>
            <a:ext cx="9830435" cy="17278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418465" indent="-18288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418465" algn="l"/>
              </a:tabLst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Unsupervised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can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reveal 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hidden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structure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within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network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traffic.</a:t>
            </a:r>
            <a:endParaRPr sz="1350">
              <a:latin typeface="Cambria"/>
              <a:cs typeface="Cambria"/>
            </a:endParaRPr>
          </a:p>
          <a:p>
            <a:pPr marL="418465" indent="-182880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418465" algn="l"/>
              </a:tabLst>
            </a:pP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K-</a:t>
            </a:r>
            <a:r>
              <a:rPr sz="1350" spc="90" dirty="0">
                <a:solidFill>
                  <a:srgbClr val="4B4B4B"/>
                </a:solidFill>
                <a:latin typeface="Cambria"/>
                <a:cs typeface="Cambria"/>
              </a:rPr>
              <a:t>Means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gives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partitioned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groupings;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Hierarchical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reveals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nested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relationships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both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are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complementary.</a:t>
            </a:r>
            <a:endParaRPr sz="1350">
              <a:latin typeface="Cambria"/>
              <a:cs typeface="Cambria"/>
            </a:endParaRPr>
          </a:p>
          <a:p>
            <a:pPr marL="12700" marR="5080" indent="405765">
              <a:lnSpc>
                <a:spcPct val="134300"/>
              </a:lnSpc>
              <a:buAutoNum type="arabicPeriod"/>
              <a:tabLst>
                <a:tab pos="418465" algn="l"/>
              </a:tabLst>
            </a:pP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The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approach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is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intended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4B4B4B"/>
                </a:solidFill>
                <a:latin typeface="Cambria"/>
                <a:cs typeface="Cambria"/>
              </a:rPr>
              <a:t>to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support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analysts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85" dirty="0">
                <a:solidFill>
                  <a:srgbClr val="4B4B4B"/>
                </a:solidFill>
                <a:latin typeface="Cambria"/>
                <a:cs typeface="Cambria"/>
              </a:rPr>
              <a:t>in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prioritising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9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interpreting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suspicious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patterns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rather</a:t>
            </a:r>
            <a:r>
              <a:rPr sz="13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than 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replacing</a:t>
            </a:r>
            <a:r>
              <a:rPr sz="13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110" dirty="0">
                <a:solidFill>
                  <a:srgbClr val="4B4B4B"/>
                </a:solidFill>
                <a:latin typeface="Cambria"/>
                <a:cs typeface="Cambria"/>
              </a:rPr>
              <a:t>human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judgement.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350">
              <a:latin typeface="Cambria"/>
              <a:cs typeface="Cambria"/>
            </a:endParaRPr>
          </a:p>
          <a:p>
            <a:pPr marL="2470785">
              <a:lnSpc>
                <a:spcPct val="100000"/>
              </a:lnSpc>
              <a:tabLst>
                <a:tab pos="7671434" algn="l"/>
              </a:tabLst>
            </a:pPr>
            <a:r>
              <a:rPr sz="1600" spc="-50" dirty="0">
                <a:latin typeface="Cambria"/>
                <a:cs typeface="Cambria"/>
              </a:rPr>
              <a:t>1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-50" dirty="0"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78524" y="7968701"/>
            <a:ext cx="4161790" cy="77914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650" spc="90" dirty="0">
                <a:solidFill>
                  <a:srgbClr val="4B4B4B"/>
                </a:solidFill>
                <a:latin typeface="Cambria"/>
                <a:cs typeface="Cambria"/>
              </a:rPr>
              <a:t>Comparison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Hierarchical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4B4B4B"/>
                </a:solidFill>
                <a:latin typeface="Lucida Sans Unicode"/>
                <a:cs typeface="Lucida Sans Unicode"/>
              </a:rPr>
              <a:t>→</a:t>
            </a:r>
            <a:r>
              <a:rPr sz="1500" spc="-185" dirty="0">
                <a:solidFill>
                  <a:srgbClr val="4B4B4B"/>
                </a:solidFill>
                <a:latin typeface="Lucida Sans Unicode"/>
                <a:cs typeface="Lucida Sans Unicode"/>
              </a:rPr>
              <a:t> </a:t>
            </a:r>
            <a:r>
              <a:rPr sz="1350" spc="55" dirty="0">
                <a:solidFill>
                  <a:srgbClr val="4B4B4B"/>
                </a:solidFill>
                <a:latin typeface="Cambria"/>
                <a:cs typeface="Cambria"/>
              </a:rPr>
              <a:t>Nested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relationships</a:t>
            </a:r>
            <a:r>
              <a:rPr sz="1350" spc="8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350" spc="45" dirty="0">
                <a:solidFill>
                  <a:srgbClr val="4B4B4B"/>
                </a:solidFill>
                <a:latin typeface="Cambria"/>
                <a:cs typeface="Cambria"/>
              </a:rPr>
              <a:t>(dendrogram)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36" name="object 36">
            <a:hlinkClick r:id="rId11"/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80244" y="8922257"/>
            <a:ext cx="1754504" cy="4191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2770CCC-2404-8186-5484-2F0A8B5762B4}"/>
              </a:ext>
            </a:extLst>
          </p:cNvPr>
          <p:cNvSpPr/>
          <p:nvPr/>
        </p:nvSpPr>
        <p:spPr>
          <a:xfrm>
            <a:off x="9627870" y="8969460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THANK</a:t>
            </a:r>
            <a:r>
              <a:rPr spc="10" dirty="0"/>
              <a:t> </a:t>
            </a:r>
            <a:r>
              <a:rPr spc="18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2483" y="3178174"/>
            <a:ext cx="5271770" cy="87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0"/>
              </a:spcBef>
            </a:pPr>
            <a:r>
              <a:rPr sz="1350" spc="60" dirty="0">
                <a:solidFill>
                  <a:srgbClr val="4B4B4B"/>
                </a:solidFill>
                <a:latin typeface="Cambria"/>
                <a:cs typeface="Cambria"/>
              </a:rPr>
              <a:t>Questions</a:t>
            </a:r>
            <a:r>
              <a:rPr sz="1350" spc="70" dirty="0">
                <a:solidFill>
                  <a:srgbClr val="4B4B4B"/>
                </a:solidFill>
                <a:latin typeface="Cambria"/>
                <a:cs typeface="Cambria"/>
              </a:rPr>
              <a:t> &amp; </a:t>
            </a:r>
            <a:r>
              <a:rPr sz="1350" spc="50" dirty="0">
                <a:solidFill>
                  <a:srgbClr val="4B4B4B"/>
                </a:solidFill>
                <a:latin typeface="Cambria"/>
                <a:cs typeface="Cambria"/>
              </a:rPr>
              <a:t>Discussion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Cambria"/>
              <a:cs typeface="Cambria"/>
            </a:endParaRPr>
          </a:p>
          <a:p>
            <a:pPr marL="12700" marR="5080" indent="77470">
              <a:lnSpc>
                <a:spcPct val="136900"/>
              </a:lnSpc>
            </a:pP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Malicious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Traffic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Pattern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Clustering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Using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K-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Means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85" dirty="0">
                <a:solidFill>
                  <a:srgbClr val="4B4B4B"/>
                </a:solidFill>
                <a:latin typeface="Cambria"/>
                <a:cs typeface="Cambria"/>
              </a:rPr>
              <a:t>and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Hierarchical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45" dirty="0">
                <a:solidFill>
                  <a:srgbClr val="4B4B4B"/>
                </a:solidFill>
                <a:latin typeface="Cambria"/>
                <a:cs typeface="Cambria"/>
              </a:rPr>
              <a:t>Clustering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Team: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Pakkiru </a:t>
            </a:r>
            <a:r>
              <a:rPr sz="1050" spc="65" dirty="0">
                <a:solidFill>
                  <a:srgbClr val="4B4B4B"/>
                </a:solidFill>
                <a:latin typeface="Cambria"/>
                <a:cs typeface="Cambria"/>
              </a:rPr>
              <a:t>Sai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Harshith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60" dirty="0">
                <a:solidFill>
                  <a:srgbClr val="4B4B4B"/>
                </a:solidFill>
                <a:latin typeface="Cambria"/>
                <a:cs typeface="Cambria"/>
              </a:rPr>
              <a:t>Reddy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2520030375;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Kasula </a:t>
            </a:r>
            <a:r>
              <a:rPr sz="1050" spc="55" dirty="0">
                <a:solidFill>
                  <a:srgbClr val="4B4B4B"/>
                </a:solidFill>
                <a:latin typeface="Cambria"/>
                <a:cs typeface="Cambria"/>
              </a:rPr>
              <a:t>Yashas</a:t>
            </a:r>
            <a:r>
              <a:rPr sz="1050" spc="70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B4B4B"/>
                </a:solidFill>
                <a:latin typeface="Cambria"/>
                <a:cs typeface="Cambria"/>
              </a:rPr>
              <a:t>—</a:t>
            </a:r>
            <a:r>
              <a:rPr sz="1050" spc="7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mbria"/>
                <a:cs typeface="Cambria"/>
              </a:rPr>
              <a:t>2520030401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390C94-DB17-A3BD-BB56-19FF8F221C96}"/>
              </a:ext>
            </a:extLst>
          </p:cNvPr>
          <p:cNvSpPr/>
          <p:nvPr/>
        </p:nvSpPr>
        <p:spPr>
          <a:xfrm>
            <a:off x="9580244" y="5968308"/>
            <a:ext cx="1754504" cy="33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972</Words>
  <Application>Microsoft Office PowerPoint</Application>
  <PresentationFormat>Custom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Cambria</vt:lpstr>
      <vt:lpstr>Lucida Sans Unicode</vt:lpstr>
      <vt:lpstr>Office Theme</vt:lpstr>
      <vt:lpstr>Malicious Traffic Pattern Clustering Using K-Means and Hierarchical Clustering</vt:lpstr>
      <vt:lpstr>Research Roadmap</vt:lpstr>
      <vt:lpstr>Literature &amp; Research Direction</vt:lpstr>
      <vt:lpstr>Problem Statement — From Volume to Actionable Groups</vt:lpstr>
      <vt:lpstr>Abstract — Project Pipeline</vt:lpstr>
      <vt:lpstr>Data Analysis — CICIDS2017 Overview</vt:lpstr>
      <vt:lpstr>Methodology — End-to-End Architecture</vt:lpstr>
      <vt:lpstr>Implementation &amp; Results — Pipeline and Findings</vt:lpstr>
      <vt:lpstr>Results — PCA Cluster Visualizations</vt:lpstr>
      <vt:lpstr>Results — Selecting k and Cluster Structure</vt:lpstr>
      <vt:lpstr>Results — Quantitative Comparison</vt:lpstr>
      <vt:lpstr>Conclusion &amp; Practical Implications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harshith reddy</cp:lastModifiedBy>
  <cp:revision>1</cp:revision>
  <dcterms:created xsi:type="dcterms:W3CDTF">2026-09-26T03:58:57Z</dcterms:created>
  <dcterms:modified xsi:type="dcterms:W3CDTF">2026-09-26T04:25:59Z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2026-09-26T00:00:00Z</vt:filetime>
  </property>
  <property fmtid="{D5CDD505-2E9C-101B-9397-08002B2CF9AE}" pid="6" name="Producer">
    <vt:lpwstr>pdf-lib (https://github.com/Hopding/pdf-lib)</vt:lpwstr>
  </property>
</Properties>
</file>